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lay-bold.fntdata"/><Relationship Id="rId10" Type="http://schemas.openxmlformats.org/officeDocument/2006/relationships/slide" Target="slides/slide5.xml"/><Relationship Id="rId21" Type="http://schemas.openxmlformats.org/officeDocument/2006/relationships/font" Target="fonts/Play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62ba79b79_1_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e62ba79b79_1_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62ba79b79_1_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62ba79b79_1_2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e62ba79b79_1_2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62ba79b79_1_2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62ba79b79_1_6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e62ba79b79_1_6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62ba79b79_1_6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62ba79b79_1_10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62ba79b79_1_10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62ba79b79_1_10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2ba79b79_1_13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e62ba79b79_1_13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e62ba79b79_1_13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62ba79b79_1_17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62ba79b79_1_17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62ba79b79_1_17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62ba79b79_1_21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e62ba79b79_1_21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62ba79b79_1_21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62ba79b79_1_25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e62ba79b79_1_25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62ba79b79_1_25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62ba79b79_1_31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e62ba79b79_1_31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e62ba79b79_1_31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62ba79b79_1_37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e62ba79b79_1_37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e62ba79b79_1_37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62ba79b79_1_42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e62ba79b79_1_42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e62ba79b79_1_42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62ba79b79_1_454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e62ba79b79_1_454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e62ba79b79_1_454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e62ba79b79_1_48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e62ba79b79_1_48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e62ba79b79_1_48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e62ba79b79_1_53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e62ba79b79_1_53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e62ba79b79_1_53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62ba79b79_1_57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g3e62ba79b79_1_57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e62ba79b79_1_57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MASTER">
  <p:cSld name="TITLE_MASTER">
    <p:bg>
      <p:bgPr>
        <a:solidFill>
          <a:srgbClr val="0B0F1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_MASTER">
  <p:cSld name="DARK_MASTER">
    <p:bg>
      <p:bgPr>
        <a:solidFill>
          <a:srgbClr val="0B0F1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F_MASTER">
  <p:cSld name="REF_MASTER">
    <p:bg>
      <p:bgPr>
        <a:solidFill>
          <a:srgbClr val="0B0F1A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6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7855" y="521208"/>
            <a:ext cx="404622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480073" y="377190"/>
            <a:ext cx="1886000" cy="246888"/>
          </a:xfrm>
          <a:prstGeom prst="roundRect">
            <a:avLst>
              <a:gd fmla="val 36111" name="adj"/>
            </a:avLst>
          </a:prstGeom>
          <a:solidFill>
            <a:srgbClr val="FF3B47"/>
          </a:solidFill>
          <a:ln cap="flat" cmpd="sng" w="12700">
            <a:solidFill>
              <a:srgbClr val="FF3B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480073" y="414909"/>
            <a:ext cx="18860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CS4375 FINAL PROJECT ·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466356" y="822960"/>
            <a:ext cx="4046328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500"/>
              <a:buFont typeface="Play"/>
              <a:buNone/>
            </a:pPr>
            <a:r>
              <a:rPr b="1" i="0" lang="en" sz="3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Ragebait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500"/>
              <a:buFont typeface="Play"/>
              <a:buNone/>
            </a:pPr>
            <a:r>
              <a:rPr b="1" i="0" lang="en" sz="3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Detection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493789" y="2160270"/>
            <a:ext cx="394345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From weak-label baseline to gold-label benchmark for abusive and rage-inducing online language.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93789" y="2777490"/>
            <a:ext cx="418349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Edison Cheah · Giuseppe Galiazzi · Lawson Herger · Andrew Lin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93789" y="3031236"/>
            <a:ext cx="4389237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Repository: github.com/giuseppegaliazzitx-bit/ML-Project-Ragebait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93789" y="3689604"/>
            <a:ext cx="1611673" cy="905256"/>
          </a:xfrm>
          <a:prstGeom prst="roundRect">
            <a:avLst>
              <a:gd fmla="val 9091" name="adj"/>
            </a:avLst>
          </a:prstGeom>
          <a:solidFill>
            <a:srgbClr val="131A2A"/>
          </a:solidFill>
          <a:ln cap="flat" cmpd="sng" w="12700">
            <a:solidFill>
              <a:srgbClr val="FF3B47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665244" y="3773691"/>
            <a:ext cx="1268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FF3B47"/>
                </a:solidFill>
                <a:latin typeface="Play"/>
                <a:ea typeface="Play"/>
                <a:cs typeface="Play"/>
                <a:sym typeface="Play"/>
              </a:rPr>
              <a:t>0.9229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665244" y="4066576"/>
            <a:ext cx="126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Binary BERT F1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665244" y="4299748"/>
            <a:ext cx="1268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Best held-out detector for rage/abuse vs normal.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2249484" y="3689604"/>
            <a:ext cx="1865426" cy="905256"/>
          </a:xfrm>
          <a:prstGeom prst="roundRect">
            <a:avLst>
              <a:gd fmla="val 9091" name="adj"/>
            </a:avLst>
          </a:prstGeom>
          <a:solidFill>
            <a:srgbClr val="131A2A"/>
          </a:solidFill>
          <a:ln cap="flat" cmpd="sng" w="12700">
            <a:solidFill>
              <a:srgbClr val="3DEB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2420939" y="3773691"/>
            <a:ext cx="1522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3DEBFF"/>
                </a:solidFill>
                <a:latin typeface="Play"/>
                <a:ea typeface="Play"/>
                <a:cs typeface="Play"/>
                <a:sym typeface="Play"/>
              </a:rPr>
              <a:t>0.6405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2420939" y="4066576"/>
            <a:ext cx="1522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Multiclass BERT Macro F1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420939" y="4299748"/>
            <a:ext cx="152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Nuanced 5-way task: Normal, Profanity, Trolling, Derogatory, Hate Speech.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265790" y="3689604"/>
            <a:ext cx="1522517" cy="905256"/>
          </a:xfrm>
          <a:prstGeom prst="roundRect">
            <a:avLst>
              <a:gd fmla="val 9091" name="adj"/>
            </a:avLst>
          </a:prstGeom>
          <a:solidFill>
            <a:srgbClr val="131A2A"/>
          </a:solidFill>
          <a:ln cap="flat" cmpd="sng" w="12700">
            <a:solidFill>
              <a:srgbClr val="FFD166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437244" y="3773691"/>
            <a:ext cx="117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FFD166"/>
                </a:solidFill>
                <a:latin typeface="Play"/>
                <a:ea typeface="Play"/>
                <a:cs typeface="Play"/>
                <a:sym typeface="Play"/>
              </a:rPr>
              <a:t>12,490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4437244" y="4066576"/>
            <a:ext cx="117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Gold benchmark size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437244" y="4299748"/>
            <a:ext cx="1179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Human-labeled posts replaced weak-label endpoint.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493789" y="4821174"/>
            <a:ext cx="8161238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17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7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The real question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When do contextual transformers justify their cost over strong lexical baselines?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34938" y="1371600"/>
            <a:ext cx="3909164" cy="685800"/>
          </a:xfrm>
          <a:prstGeom prst="roundRect">
            <a:avLst>
              <a:gd fmla="val 12000" name="adj"/>
            </a:avLst>
          </a:prstGeom>
          <a:solidFill>
            <a:srgbClr val="0F172A"/>
          </a:solidFill>
          <a:ln cap="flat" cmpd="sng" w="12700">
            <a:solidFill>
              <a:srgbClr val="3DEB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658386" y="1399032"/>
            <a:ext cx="26061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2000"/>
              <a:buFont typeface="Georgia"/>
              <a:buNone/>
            </a:pPr>
            <a:r>
              <a:rPr b="1" i="0" lang="en" sz="2000" u="none" cap="none" strike="noStrike">
                <a:solidFill>
                  <a:srgbClr val="3DEBFF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891564" y="1529334"/>
            <a:ext cx="337422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headline is not just “BERT wins.” The stronger finding is that label quality changed what the project could validly claim.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34938" y="2366010"/>
            <a:ext cx="2571819" cy="1131570"/>
          </a:xfrm>
          <a:prstGeom prst="roundRect">
            <a:avLst>
              <a:gd fmla="val 7273" name="adj"/>
            </a:avLst>
          </a:prstGeom>
          <a:solidFill>
            <a:srgbClr val="131A2A"/>
          </a:solidFill>
          <a:ln cap="flat" cmpd="sng" w="12700">
            <a:solidFill>
              <a:srgbClr val="FF3B4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534938" y="2366010"/>
            <a:ext cx="48007" cy="113157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706393" y="2489454"/>
            <a:ext cx="226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Why ragebait is hard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706393" y="2777490"/>
            <a:ext cx="2263200" cy="63779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Short posts often mix sarcasm, insults, provocation, profanity, and targeted abuse. A bag-of-words model can catch many obvious cases, but boundary cases need intent and context.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305644" y="2366010"/>
            <a:ext cx="2571819" cy="1131570"/>
          </a:xfrm>
          <a:prstGeom prst="roundRect">
            <a:avLst>
              <a:gd fmla="val 7273" name="adj"/>
            </a:avLst>
          </a:prstGeom>
          <a:solidFill>
            <a:srgbClr val="131A2A"/>
          </a:solidFill>
          <a:ln cap="flat" cmpd="sng" w="12700">
            <a:solidFill>
              <a:srgbClr val="FFD16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3305644" y="2366010"/>
            <a:ext cx="48007" cy="113157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3477099" y="2489454"/>
            <a:ext cx="226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Why baselines matter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477099" y="2777490"/>
            <a:ext cx="2263200" cy="63779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Binary detection is already fairly easy for TF-IDF models, so the transformer has to beat a serious baseline rather than a weak strawman.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076350" y="2366010"/>
            <a:ext cx="2571819" cy="1131570"/>
          </a:xfrm>
          <a:prstGeom prst="roundRect">
            <a:avLst>
              <a:gd fmla="val 7273" name="adj"/>
            </a:avLst>
          </a:prstGeom>
          <a:solidFill>
            <a:srgbClr val="131A2A"/>
          </a:solidFill>
          <a:ln cap="flat" cmpd="sng" w="12700">
            <a:solidFill>
              <a:srgbClr val="3DEB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6076350" y="2366010"/>
            <a:ext cx="48007" cy="1131570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6247805" y="2489454"/>
            <a:ext cx="226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Why labels matter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247805" y="2777490"/>
            <a:ext cx="2263200" cy="63779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Iteration 1 tested agreement with LLM-generated labels. Iteration 2 moved the scientific claim to a human-labeled benchmark.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34938" y="3950208"/>
            <a:ext cx="768116" cy="246888"/>
          </a:xfrm>
          <a:prstGeom prst="roundRect">
            <a:avLst>
              <a:gd fmla="val 36111" name="adj"/>
            </a:avLst>
          </a:prstGeom>
          <a:solidFill>
            <a:srgbClr val="FF3B47"/>
          </a:solidFill>
          <a:ln cap="flat" cmpd="sng" w="12700">
            <a:solidFill>
              <a:srgbClr val="FF3B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34938" y="3987927"/>
            <a:ext cx="7681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Core result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405927" y="3929634"/>
            <a:ext cx="675531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BERT consistently improves aggregate metrics and class-wise robustness, especially when the task expands from binary detection to overlapping abusive-language categories.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18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8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Project arc: weak labels → gold labels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deck tells a pivot story: engineering baseline first, scientific benchmark second.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93789" y="1495044"/>
            <a:ext cx="1111026" cy="630936"/>
          </a:xfrm>
          <a:prstGeom prst="roundRect">
            <a:avLst>
              <a:gd fmla="val 13043" name="adj"/>
            </a:avLst>
          </a:prstGeom>
          <a:solidFill>
            <a:srgbClr val="131A2A"/>
          </a:solidFill>
          <a:ln cap="flat" cmpd="sng" w="12700">
            <a:solidFill>
              <a:srgbClr val="FF9E2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48655" y="1604772"/>
            <a:ext cx="100129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E2C"/>
              </a:buClr>
              <a:buSzPts val="600"/>
              <a:buFont typeface="Arial"/>
              <a:buNone/>
            </a:pPr>
            <a:r>
              <a:rPr b="1" i="0" lang="en" sz="800" u="none" cap="none" strike="noStrike">
                <a:solidFill>
                  <a:srgbClr val="FF9E2C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48655" y="1789938"/>
            <a:ext cx="1001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8-source corpus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507,682 rows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1659680" y="1495044"/>
            <a:ext cx="1111026" cy="630936"/>
          </a:xfrm>
          <a:prstGeom prst="roundRect">
            <a:avLst>
              <a:gd fmla="val 13043" name="adj"/>
            </a:avLst>
          </a:prstGeom>
          <a:solidFill>
            <a:srgbClr val="131A2A"/>
          </a:solidFill>
          <a:ln cap="flat" cmpd="sng" w="12700">
            <a:solidFill>
              <a:srgbClr val="FF9E2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1714546" y="1604772"/>
            <a:ext cx="100129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E2C"/>
              </a:buClr>
              <a:buSzPts val="600"/>
              <a:buFont typeface="Arial"/>
              <a:buNone/>
            </a:pPr>
            <a:r>
              <a:rPr b="1" i="0" lang="en" sz="800" u="none" cap="none" strike="noStrike">
                <a:solidFill>
                  <a:srgbClr val="FF9E2C"/>
                </a:solidFill>
                <a:latin typeface="Arial"/>
                <a:ea typeface="Arial"/>
                <a:cs typeface="Arial"/>
                <a:sym typeface="Arial"/>
              </a:rPr>
              <a:t>LLM WEAK LABELS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1714546" y="1789938"/>
            <a:ext cx="1001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binary labels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6.12% positive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825571" y="1495044"/>
            <a:ext cx="1111026" cy="630936"/>
          </a:xfrm>
          <a:prstGeom prst="roundRect">
            <a:avLst>
              <a:gd fmla="val 13043" name="adj"/>
            </a:avLst>
          </a:prstGeom>
          <a:solidFill>
            <a:srgbClr val="131A2A"/>
          </a:solidFill>
          <a:ln cap="flat" cmpd="sng" w="12700">
            <a:solidFill>
              <a:srgbClr val="FFD16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2798173" y="1606426"/>
            <a:ext cx="116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600"/>
              <a:buFont typeface="Arial"/>
              <a:buNone/>
            </a:pPr>
            <a:r>
              <a:rPr b="1" i="0" lang="en" sz="8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ARCHIVED BASELINE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2880437" y="1789938"/>
            <a:ext cx="1001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SVC ≈ BERT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macro F1 ~0.87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991462" y="1495044"/>
            <a:ext cx="1111026" cy="630936"/>
          </a:xfrm>
          <a:prstGeom prst="roundRect">
            <a:avLst>
              <a:gd fmla="val 13043" name="adj"/>
            </a:avLst>
          </a:prstGeom>
          <a:solidFill>
            <a:srgbClr val="131A2A"/>
          </a:solidFill>
          <a:ln cap="flat" cmpd="sng" w="12700">
            <a:solidFill>
              <a:srgbClr val="FF3B47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4046328" y="1604772"/>
            <a:ext cx="100129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600"/>
              <a:buFont typeface="Arial"/>
              <a:buNone/>
            </a:pPr>
            <a:r>
              <a:rPr b="1" i="0" lang="en" sz="800" u="none" cap="none" strike="noStrike">
                <a:solidFill>
                  <a:srgbClr val="FF3B47"/>
                </a:solidFill>
                <a:latin typeface="Arial"/>
                <a:ea typeface="Arial"/>
                <a:cs typeface="Arial"/>
                <a:sym typeface="Arial"/>
              </a:rPr>
              <a:t>PIVOT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046328" y="1789938"/>
            <a:ext cx="1001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validity &gt;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157353" y="1495044"/>
            <a:ext cx="1111026" cy="630936"/>
          </a:xfrm>
          <a:prstGeom prst="roundRect">
            <a:avLst>
              <a:gd fmla="val 13043" name="adj"/>
            </a:avLst>
          </a:prstGeom>
          <a:solidFill>
            <a:srgbClr val="131A2A"/>
          </a:solidFill>
          <a:ln cap="flat" cmpd="sng" w="12700">
            <a:solidFill>
              <a:srgbClr val="3DEB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212219" y="1604772"/>
            <a:ext cx="100129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6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212219" y="1789938"/>
            <a:ext cx="1001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human-labeled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trolldata.csv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323245" y="1495044"/>
            <a:ext cx="1111026" cy="630936"/>
          </a:xfrm>
          <a:prstGeom prst="roundRect">
            <a:avLst>
              <a:gd fmla="val 13043" name="adj"/>
            </a:avLst>
          </a:prstGeom>
          <a:solidFill>
            <a:srgbClr val="131A2A"/>
          </a:solidFill>
          <a:ln cap="flat" cmpd="sng" w="12700">
            <a:solidFill>
              <a:srgbClr val="3DEB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378110" y="1604772"/>
            <a:ext cx="100129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6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FROZEN SPLIT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378110" y="1789938"/>
            <a:ext cx="1001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stratified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80/10/10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7489136" y="1495044"/>
            <a:ext cx="1111026" cy="630936"/>
          </a:xfrm>
          <a:prstGeom prst="roundRect">
            <a:avLst>
              <a:gd fmla="val 13043" name="adj"/>
            </a:avLst>
          </a:prstGeom>
          <a:solidFill>
            <a:srgbClr val="131A2A"/>
          </a:solidFill>
          <a:ln cap="flat" cmpd="sng" w="12700">
            <a:solidFill>
              <a:srgbClr val="B38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7544001" y="1604772"/>
            <a:ext cx="100129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88FF"/>
              </a:buClr>
              <a:buSzPts val="600"/>
              <a:buFont typeface="Arial"/>
              <a:buNone/>
            </a:pPr>
            <a:r>
              <a:rPr b="1" i="0" lang="en" sz="800" u="none" cap="none" strike="noStrike">
                <a:solidFill>
                  <a:srgbClr val="B388FF"/>
                </a:solidFill>
                <a:latin typeface="Arial"/>
                <a:ea typeface="Arial"/>
                <a:cs typeface="Arial"/>
                <a:sym typeface="Arial"/>
              </a:rPr>
              <a:t>MODEL LADDER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7544001" y="1789938"/>
            <a:ext cx="1001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TF-IDF → FFNN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→ BERT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48655" y="2777490"/>
            <a:ext cx="2434655" cy="1131570"/>
          </a:xfrm>
          <a:prstGeom prst="roundRect">
            <a:avLst>
              <a:gd fmla="val 7273" name="adj"/>
            </a:avLst>
          </a:prstGeom>
          <a:solidFill>
            <a:srgbClr val="0F172A"/>
          </a:solidFill>
          <a:ln cap="flat" cmpd="sng" w="12700">
            <a:solidFill>
              <a:srgbClr val="FF9E2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733826" y="2906932"/>
            <a:ext cx="102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E2C"/>
              </a:buClr>
              <a:buSzPts val="800"/>
              <a:buFont typeface="Arial"/>
              <a:buNone/>
            </a:pPr>
            <a:r>
              <a:rPr b="1" i="0" lang="en" sz="1000" u="none" cap="none" strike="noStrike">
                <a:solidFill>
                  <a:srgbClr val="FF9E2C"/>
                </a:solidFill>
                <a:latin typeface="Arial"/>
                <a:ea typeface="Arial"/>
                <a:cs typeface="Arial"/>
                <a:sym typeface="Arial"/>
              </a:rPr>
              <a:t>Before pivot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733826" y="3202686"/>
            <a:ext cx="195458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Can a model imitate LLM labels?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360510" y="2777490"/>
            <a:ext cx="2434655" cy="1131570"/>
          </a:xfrm>
          <a:prstGeom prst="roundRect">
            <a:avLst>
              <a:gd fmla="val 7273" name="adj"/>
            </a:avLst>
          </a:prstGeom>
          <a:solidFill>
            <a:srgbClr val="0F172A"/>
          </a:solidFill>
          <a:ln cap="flat" cmpd="sng" w="12700">
            <a:solidFill>
              <a:srgbClr val="FF3B47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3545681" y="2906932"/>
            <a:ext cx="102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800"/>
              <a:buFont typeface="Arial"/>
              <a:buNone/>
            </a:pPr>
            <a:r>
              <a:rPr b="1" i="0" lang="en" sz="1000" u="none" cap="none" strike="noStrike">
                <a:solidFill>
                  <a:srgbClr val="FF3B47"/>
                </a:solidFill>
                <a:latin typeface="Arial"/>
                <a:ea typeface="Arial"/>
                <a:cs typeface="Arial"/>
                <a:sym typeface="Arial"/>
              </a:rPr>
              <a:t>Pivot insight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545681" y="3202686"/>
            <a:ext cx="195458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High scores can still be weak science.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6172365" y="2777490"/>
            <a:ext cx="2434655" cy="1131570"/>
          </a:xfrm>
          <a:prstGeom prst="roundRect">
            <a:avLst>
              <a:gd fmla="val 7273" name="adj"/>
            </a:avLst>
          </a:prstGeom>
          <a:solidFill>
            <a:srgbClr val="0F172A"/>
          </a:solidFill>
          <a:ln cap="flat" cmpd="sng" w="12700">
            <a:solidFill>
              <a:srgbClr val="3DE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6357535" y="2906932"/>
            <a:ext cx="102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10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After pivot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357535" y="3249839"/>
            <a:ext cx="1954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Play"/>
              <a:buNone/>
            </a:pPr>
            <a:r>
              <a:rPr b="1" i="0" lang="en" sz="1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Can models generalize on human labels?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1570524" y="1700784"/>
            <a:ext cx="123447" cy="192024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2736415" y="1700784"/>
            <a:ext cx="123447" cy="192024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3902306" y="1700784"/>
            <a:ext cx="123447" cy="192024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068197" y="1700784"/>
            <a:ext cx="123447" cy="192024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234088" y="1700784"/>
            <a:ext cx="123447" cy="192024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399979" y="1700784"/>
            <a:ext cx="123447" cy="192024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19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19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Data overview: volume versus trust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Iteration 2 is smaller, but it is the benchmark that supports the final claims.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80073" y="1337310"/>
            <a:ext cx="3429091" cy="973836"/>
          </a:xfrm>
          <a:prstGeom prst="roundRect">
            <a:avLst>
              <a:gd fmla="val 8451" name="adj"/>
            </a:avLst>
          </a:prstGeom>
          <a:solidFill>
            <a:srgbClr val="131A2A"/>
          </a:solidFill>
          <a:ln cap="flat" cmpd="sng" w="12700">
            <a:solidFill>
              <a:srgbClr val="FF9E2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672102" y="1495044"/>
            <a:ext cx="1028727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E2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9E2C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72102" y="1693926"/>
            <a:ext cx="137163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507,682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1954582" y="1700784"/>
            <a:ext cx="1748837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Unified 8-source corpus · weak binary labels · historical baseline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80073" y="2503170"/>
            <a:ext cx="3429091" cy="973836"/>
          </a:xfrm>
          <a:prstGeom prst="roundRect">
            <a:avLst>
              <a:gd fmla="val 8451" name="adj"/>
            </a:avLst>
          </a:prstGeom>
          <a:solidFill>
            <a:srgbClr val="131A2A"/>
          </a:solidFill>
          <a:ln cap="flat" cmpd="sng" w="12700">
            <a:solidFill>
              <a:srgbClr val="3DE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72102" y="2660904"/>
            <a:ext cx="1028727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72102" y="2859786"/>
            <a:ext cx="137163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12,490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1954582" y="2859786"/>
            <a:ext cx="1748837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Human 5-class labels · final benchmark · Normal→0, all others→1 for binary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4641" y="1200150"/>
            <a:ext cx="4512564" cy="22631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4354946" y="3737610"/>
            <a:ext cx="1097309" cy="246888"/>
          </a:xfrm>
          <a:prstGeom prst="roundRect">
            <a:avLst>
              <a:gd fmla="val 36111" name="adj"/>
            </a:avLst>
          </a:prstGeom>
          <a:solidFill>
            <a:srgbClr val="FF3B47"/>
          </a:solidFill>
          <a:ln cap="flat" cmpd="sng" w="12700">
            <a:solidFill>
              <a:srgbClr val="FF3B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4354946" y="3775329"/>
            <a:ext cx="109730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five-class label set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568844" y="3737610"/>
            <a:ext cx="2708982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Normal · Profanity · Trolling · Derogatory · Hate Speech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0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20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Task setup and experimental protocol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single frozen split keeps the model ladder comparable.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93789" y="1303020"/>
            <a:ext cx="4149201" cy="2503170"/>
          </a:xfrm>
          <a:prstGeom prst="roundRect">
            <a:avLst>
              <a:gd fmla="val 3288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672102" y="1481328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Frozen stratified split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72102" y="1879092"/>
            <a:ext cx="7886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72102" y="2071116"/>
            <a:ext cx="7886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9,992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591098" y="1892808"/>
            <a:ext cx="1331663" cy="356616"/>
          </a:xfrm>
          <a:prstGeom prst="roundRect">
            <a:avLst>
              <a:gd fmla="val 9615" name="adj"/>
            </a:avLst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2922761" y="1892808"/>
            <a:ext cx="1960265" cy="356616"/>
          </a:xfrm>
          <a:prstGeom prst="roundRect">
            <a:avLst>
              <a:gd fmla="val 9615" name="adj"/>
            </a:avLst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1645964" y="2002536"/>
            <a:ext cx="6858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B0F1A"/>
                </a:solidFill>
                <a:latin typeface="Arial"/>
                <a:ea typeface="Arial"/>
                <a:cs typeface="Arial"/>
                <a:sym typeface="Arial"/>
              </a:rPr>
              <a:t>4,042 normal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977627" y="2002536"/>
            <a:ext cx="82298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5,950 abusive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72102" y="2578608"/>
            <a:ext cx="7886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72102" y="2770632"/>
            <a:ext cx="7886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1,249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1591098" y="2592324"/>
            <a:ext cx="166705" cy="356616"/>
          </a:xfrm>
          <a:prstGeom prst="roundRect">
            <a:avLst>
              <a:gd fmla="val 20570" name="adj"/>
            </a:avLst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1757803" y="2592324"/>
            <a:ext cx="244786" cy="356616"/>
          </a:xfrm>
          <a:prstGeom prst="roundRect">
            <a:avLst>
              <a:gd fmla="val 14009" name="adj"/>
            </a:avLst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1645964" y="2702052"/>
            <a:ext cx="6858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B0F1A"/>
                </a:solidFill>
                <a:latin typeface="Arial"/>
                <a:ea typeface="Arial"/>
                <a:cs typeface="Arial"/>
                <a:sym typeface="Arial"/>
              </a:rPr>
              <a:t>506 normal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812669" y="2702052"/>
            <a:ext cx="82298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743 abusive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72102" y="3278124"/>
            <a:ext cx="7886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72102" y="3470148"/>
            <a:ext cx="7886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1,249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591098" y="3291840"/>
            <a:ext cx="166375" cy="356616"/>
          </a:xfrm>
          <a:prstGeom prst="roundRect">
            <a:avLst>
              <a:gd fmla="val 20611" name="adj"/>
            </a:avLst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1757474" y="3291840"/>
            <a:ext cx="245116" cy="356616"/>
          </a:xfrm>
          <a:prstGeom prst="roundRect">
            <a:avLst>
              <a:gd fmla="val 13990" name="adj"/>
            </a:avLst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1645964" y="3401568"/>
            <a:ext cx="6858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B0F1A"/>
                </a:solidFill>
                <a:latin typeface="Arial"/>
                <a:ea typeface="Arial"/>
                <a:cs typeface="Arial"/>
                <a:sym typeface="Arial"/>
              </a:rPr>
              <a:t>505 normal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812339" y="3401568"/>
            <a:ext cx="82298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744 abusive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099899" y="1474470"/>
            <a:ext cx="514364" cy="246888"/>
          </a:xfrm>
          <a:prstGeom prst="roundRect">
            <a:avLst>
              <a:gd fmla="val 36111" name="adj"/>
            </a:avLst>
          </a:prstGeom>
          <a:solidFill>
            <a:srgbClr val="3DEBFF"/>
          </a:solidFill>
          <a:ln cap="flat" cmpd="sng" w="12700">
            <a:solidFill>
              <a:srgbClr val="3DE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3099899" y="1512189"/>
            <a:ext cx="51436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B0F1A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669128" y="1474470"/>
            <a:ext cx="1015011" cy="246888"/>
          </a:xfrm>
          <a:prstGeom prst="roundRect">
            <a:avLst>
              <a:gd fmla="val 36111" name="adj"/>
            </a:avLst>
          </a:prstGeom>
          <a:solidFill>
            <a:srgbClr val="FF3B47"/>
          </a:solidFill>
          <a:ln cap="flat" cmpd="sng" w="12700">
            <a:solidFill>
              <a:srgbClr val="FF3B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3669128" y="1512189"/>
            <a:ext cx="101501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abusive / rage-inducing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883026" y="1303020"/>
            <a:ext cx="3758284" cy="1014984"/>
          </a:xfrm>
          <a:prstGeom prst="roundRect">
            <a:avLst>
              <a:gd fmla="val 8108" name="adj"/>
            </a:avLst>
          </a:prstGeom>
          <a:solidFill>
            <a:srgbClr val="131A2A"/>
          </a:solidFill>
          <a:ln cap="flat" cmpd="sng" w="12700">
            <a:solidFill>
              <a:srgbClr val="FF3B47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088772" y="1488186"/>
            <a:ext cx="15773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3B47"/>
                </a:solidFill>
                <a:latin typeface="Arial"/>
                <a:ea typeface="Arial"/>
                <a:cs typeface="Arial"/>
                <a:sym typeface="Arial"/>
              </a:rPr>
              <a:t>Binary metrics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088772" y="1776222"/>
            <a:ext cx="30176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Play"/>
              <a:buNone/>
            </a:pPr>
            <a:r>
              <a:rPr b="1" i="0" lang="en" sz="1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Accuracy · Precision · Recall · F1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883026" y="2482596"/>
            <a:ext cx="3758284" cy="1014984"/>
          </a:xfrm>
          <a:prstGeom prst="roundRect">
            <a:avLst>
              <a:gd fmla="val 8108" name="adj"/>
            </a:avLst>
          </a:prstGeom>
          <a:solidFill>
            <a:srgbClr val="131A2A"/>
          </a:solidFill>
          <a:ln cap="flat" cmpd="sng" w="12700">
            <a:solidFill>
              <a:srgbClr val="3DE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088772" y="2667762"/>
            <a:ext cx="15773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Multiclass metrics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088772" y="2955798"/>
            <a:ext cx="3120473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Play"/>
              <a:buNone/>
            </a:pPr>
            <a:r>
              <a:rPr b="1" i="0" lang="en" sz="1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Accuracy · Micro F1 · Macro F1 · Weighted F1 · Class-wise scores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93789" y="4080510"/>
            <a:ext cx="8147521" cy="507492"/>
          </a:xfrm>
          <a:prstGeom prst="roundRect">
            <a:avLst>
              <a:gd fmla="val 16216" name="adj"/>
            </a:avLst>
          </a:prstGeom>
          <a:solidFill>
            <a:srgbClr val="0F172A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72100" y="4238250"/>
            <a:ext cx="923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Arial"/>
              <a:buNone/>
            </a:pPr>
            <a:r>
              <a:rPr b="1" i="0" lang="en" sz="9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Class weighting: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635145" y="4238250"/>
            <a:ext cx="6466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0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Multiclass training uses inverse-frequency class weights. Largest weights: Hate Speech 5.4751 and Derogatory 2.8962.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21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21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Model ladder: cheap lexical → contextual transformer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45782" y="932688"/>
            <a:ext cx="7132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design makes BERT prove its value against strong and progressively richer baselines.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630953" y="3209544"/>
            <a:ext cx="2455229" cy="1220724"/>
          </a:xfrm>
          <a:prstGeom prst="roundRect">
            <a:avLst>
              <a:gd fmla="val 6742" name="adj"/>
            </a:avLst>
          </a:prstGeom>
          <a:solidFill>
            <a:srgbClr val="131A2A"/>
          </a:solidFill>
          <a:ln cap="flat" cmpd="sng" w="12700">
            <a:solidFill>
              <a:srgbClr val="3DE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802407" y="3360420"/>
            <a:ext cx="548655" cy="246888"/>
          </a:xfrm>
          <a:prstGeom prst="roundRect">
            <a:avLst>
              <a:gd fmla="val 36111" name="adj"/>
            </a:avLst>
          </a:prstGeom>
          <a:solidFill>
            <a:srgbClr val="3DEBFF"/>
          </a:solidFill>
          <a:ln cap="flat" cmpd="sng" w="12700">
            <a:solidFill>
              <a:srgbClr val="3DE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802407" y="3398139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B0F1A"/>
                </a:solidFill>
                <a:latin typeface="Arial"/>
                <a:ea typeface="Arial"/>
                <a:cs typeface="Arial"/>
                <a:sym typeface="Arial"/>
              </a:rPr>
              <a:t>TIER 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453935" y="3374136"/>
            <a:ext cx="13030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Lexical baselines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802407" y="3788196"/>
            <a:ext cx="994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1400"/>
              <a:buFont typeface="Play"/>
              <a:buNone/>
            </a:pPr>
            <a:r>
              <a:rPr b="1" i="0" lang="en" sz="1400" u="none" cap="none" strike="noStrike">
                <a:solidFill>
                  <a:srgbClr val="3DEBFF"/>
                </a:solidFill>
                <a:latin typeface="Play"/>
                <a:ea typeface="Play"/>
                <a:cs typeface="Play"/>
                <a:sym typeface="Play"/>
              </a:rPr>
              <a:t>Logistic Regression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1400"/>
              <a:buFont typeface="Play"/>
              <a:buNone/>
            </a:pPr>
            <a:r>
              <a:rPr b="1" i="0" lang="en" sz="1400" u="none" cap="none" strike="noStrike">
                <a:solidFill>
                  <a:srgbClr val="3DEBFF"/>
                </a:solidFill>
                <a:latin typeface="Play"/>
                <a:ea typeface="Play"/>
                <a:cs typeface="Play"/>
                <a:sym typeface="Play"/>
              </a:rPr>
              <a:t>Linear SVC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899726" y="3723900"/>
            <a:ext cx="10614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TF-IDF 1–2 grams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max_features=20,000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408517" y="2794254"/>
            <a:ext cx="2455200" cy="1220700"/>
          </a:xfrm>
          <a:prstGeom prst="roundRect">
            <a:avLst>
              <a:gd fmla="val 6742" name="adj"/>
            </a:avLst>
          </a:prstGeom>
          <a:solidFill>
            <a:srgbClr val="131A2A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3579971" y="2945130"/>
            <a:ext cx="548700" cy="246900"/>
          </a:xfrm>
          <a:prstGeom prst="roundRect">
            <a:avLst>
              <a:gd fmla="val 36111" name="adj"/>
            </a:avLst>
          </a:prstGeom>
          <a:solidFill>
            <a:srgbClr val="FFD166"/>
          </a:solidFill>
          <a:ln cap="flat" cmpd="sng" w="12700">
            <a:solidFill>
              <a:srgbClr val="FFD16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3579971" y="2982849"/>
            <a:ext cx="548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TIER 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231499" y="2958846"/>
            <a:ext cx="130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Light neural baseline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3579971" y="3288030"/>
            <a:ext cx="994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Play"/>
              <a:buNone/>
            </a:pPr>
            <a:r>
              <a:rPr b="1" i="0" lang="en" sz="1400" u="none" cap="none" strike="noStrike">
                <a:solidFill>
                  <a:srgbClr val="FFD166"/>
                </a:solidFill>
                <a:latin typeface="Play"/>
                <a:ea typeface="Play"/>
                <a:cs typeface="Play"/>
                <a:sym typeface="Play"/>
              </a:rPr>
              <a:t>FFNN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677281" y="3308604"/>
            <a:ext cx="925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Train-only embeddings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mean pooling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186081" y="2302764"/>
            <a:ext cx="2455200" cy="1220700"/>
          </a:xfrm>
          <a:prstGeom prst="roundRect">
            <a:avLst>
              <a:gd fmla="val 6742" name="adj"/>
            </a:avLst>
          </a:prstGeom>
          <a:solidFill>
            <a:srgbClr val="131A2A"/>
          </a:solidFill>
          <a:ln cap="flat" cmpd="sng" w="12700">
            <a:solidFill>
              <a:srgbClr val="FF3B47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6357535" y="2453640"/>
            <a:ext cx="548700" cy="246900"/>
          </a:xfrm>
          <a:prstGeom prst="roundRect">
            <a:avLst>
              <a:gd fmla="val 36111" name="adj"/>
            </a:avLst>
          </a:prstGeom>
          <a:solidFill>
            <a:srgbClr val="FF3B47"/>
          </a:solidFill>
          <a:ln cap="flat" cmpd="sng" w="12700">
            <a:solidFill>
              <a:srgbClr val="FF3B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6357535" y="2491359"/>
            <a:ext cx="548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TIER 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7009063" y="2467356"/>
            <a:ext cx="130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Contextual modeling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357535" y="2796540"/>
            <a:ext cx="994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1400"/>
              <a:buFont typeface="Play"/>
              <a:buNone/>
            </a:pPr>
            <a:r>
              <a:rPr b="1" i="0" lang="en" sz="1400" u="none" cap="none" strike="noStrike">
                <a:solidFill>
                  <a:srgbClr val="FF3B47"/>
                </a:solidFill>
                <a:latin typeface="Play"/>
                <a:ea typeface="Play"/>
                <a:cs typeface="Play"/>
                <a:sym typeface="Play"/>
              </a:rPr>
              <a:t>BERT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7454845" y="2817114"/>
            <a:ext cx="925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Fine-tuned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bert-base-uncased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 flipH="1" rot="10800000">
            <a:off x="788691" y="3413976"/>
            <a:ext cx="7482000" cy="11946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3" name="Google Shape;263;p21"/>
          <p:cNvSpPr/>
          <p:nvPr/>
        </p:nvSpPr>
        <p:spPr>
          <a:xfrm>
            <a:off x="630953" y="1337310"/>
            <a:ext cx="3291928" cy="850392"/>
          </a:xfrm>
          <a:prstGeom prst="roundRect">
            <a:avLst>
              <a:gd fmla="val 9677" name="adj"/>
            </a:avLst>
          </a:prstGeom>
          <a:solidFill>
            <a:srgbClr val="131A2A"/>
          </a:solidFill>
          <a:ln cap="flat" cmpd="sng" w="12700">
            <a:solidFill>
              <a:srgbClr val="B388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630953" y="1337310"/>
            <a:ext cx="48007" cy="850392"/>
          </a:xfrm>
          <a:prstGeom prst="rect">
            <a:avLst/>
          </a:prstGeom>
          <a:solidFill>
            <a:srgbClr val="B388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802407" y="1460754"/>
            <a:ext cx="29833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Reproducibility outputs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802407" y="1748790"/>
            <a:ext cx="298331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Split manifests, label maps, checkpoints, confusion matrices, histories, and JSON summaries are saved so the comparison can be rerun.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149201" y="1337310"/>
            <a:ext cx="3943455" cy="850392"/>
          </a:xfrm>
          <a:prstGeom prst="roundRect">
            <a:avLst>
              <a:gd fmla="val 9677" name="adj"/>
            </a:avLst>
          </a:prstGeom>
          <a:solidFill>
            <a:srgbClr val="131A2A"/>
          </a:solidFill>
          <a:ln cap="flat" cmpd="sng" w="12700">
            <a:solidFill>
              <a:srgbClr val="FF3B4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4149201" y="1337310"/>
            <a:ext cx="48007" cy="850392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4320655" y="1460754"/>
            <a:ext cx="363483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Transformer cost is intentional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320655" y="1748790"/>
            <a:ext cx="3634837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 uses AdamW, warmup/decay scheduling, gradient clipping, and dynamic padding. The question is whether those costs buy measurable robustness.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6" name="Google Shape;2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2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22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Why Iteration 1 was not enough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Strong scores on weak labels can validate the labeling process, not the model’s relationship to ground truth.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651527" y="1337310"/>
            <a:ext cx="4046328" cy="397764"/>
          </a:xfrm>
          <a:prstGeom prst="trapezoid">
            <a:avLst>
              <a:gd fmla="val 25000" name="adj"/>
            </a:avLst>
          </a:prstGeom>
          <a:solidFill>
            <a:srgbClr val="FF9E2C">
              <a:alpha val="80000"/>
            </a:srgbClr>
          </a:solidFill>
          <a:ln cap="flat" cmpd="sng" w="12700">
            <a:solidFill>
              <a:srgbClr val="0B0F1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788691" y="1453896"/>
            <a:ext cx="22254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Unified unlabeled corpus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2998398" y="1440180"/>
            <a:ext cx="80926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507,682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3848126" y="1440180"/>
            <a:ext cx="72833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891564" y="1920240"/>
            <a:ext cx="3566255" cy="397764"/>
          </a:xfrm>
          <a:prstGeom prst="trapezoid">
            <a:avLst>
              <a:gd fmla="val 25000" name="adj"/>
            </a:avLst>
          </a:prstGeom>
          <a:solidFill>
            <a:srgbClr val="FF9E2C">
              <a:alpha val="80000"/>
            </a:srgbClr>
          </a:solidFill>
          <a:ln cap="flat" cmpd="sng" w="12700">
            <a:solidFill>
              <a:srgbClr val="0B0F1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1028727" y="2036826"/>
            <a:ext cx="19614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Weak-labeled corpus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2959991" y="2023110"/>
            <a:ext cx="71325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507,682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3708905" y="2023110"/>
            <a:ext cx="64192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6.12% positive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1217327" y="2503170"/>
            <a:ext cx="2914728" cy="397764"/>
          </a:xfrm>
          <a:prstGeom prst="trapezoid">
            <a:avLst>
              <a:gd fmla="val 25000" name="adj"/>
            </a:avLst>
          </a:prstGeom>
          <a:solidFill>
            <a:srgbClr val="FFD166"/>
          </a:solidFill>
          <a:ln cap="flat" cmpd="sng" w="12700">
            <a:solidFill>
              <a:srgbClr val="0B0F1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1354491" y="2619756"/>
            <a:ext cx="16031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High-confidence pool ≥ 0.95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2907870" y="2606040"/>
            <a:ext cx="5829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102,104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3519962" y="2606040"/>
            <a:ext cx="52465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12.68% positive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1577382" y="3086100"/>
            <a:ext cx="2194619" cy="397764"/>
          </a:xfrm>
          <a:prstGeom prst="trapezoid">
            <a:avLst>
              <a:gd fmla="val 25000" name="adj"/>
            </a:avLst>
          </a:prstGeom>
          <a:solidFill>
            <a:srgbClr val="FF3B47"/>
          </a:solidFill>
          <a:ln cap="flat" cmpd="sng" w="12700">
            <a:solidFill>
              <a:srgbClr val="0B0F1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1714546" y="3202686"/>
            <a:ext cx="1207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Final balanced train file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2850260" y="3188970"/>
            <a:ext cx="438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32,000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3311131" y="3188970"/>
            <a:ext cx="39503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40.00% positive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4972183" y="1371600"/>
            <a:ext cx="3346793" cy="1083564"/>
          </a:xfrm>
          <a:prstGeom prst="roundRect">
            <a:avLst>
              <a:gd fmla="val 7595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5177928" y="1543050"/>
            <a:ext cx="19202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Archived binary baseline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5177928" y="1906524"/>
            <a:ext cx="133734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Raw-text Linear SVC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6721019" y="1837944"/>
            <a:ext cx="65152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1400"/>
              <a:buFont typeface="Play"/>
              <a:buNone/>
            </a:pPr>
            <a:r>
              <a:rPr b="1" i="0" lang="en" sz="1400" u="none" cap="none" strike="noStrike">
                <a:solidFill>
                  <a:srgbClr val="3DEBFF"/>
                </a:solidFill>
                <a:latin typeface="Play"/>
                <a:ea typeface="Play"/>
                <a:cs typeface="Play"/>
                <a:sym typeface="Play"/>
              </a:rPr>
              <a:t>0.8706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7441128" y="1906524"/>
            <a:ext cx="493789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macro F1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22"/>
          <p:cNvCxnSpPr/>
          <p:nvPr/>
        </p:nvCxnSpPr>
        <p:spPr>
          <a:xfrm>
            <a:off x="5177928" y="2146554"/>
            <a:ext cx="2880437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22"/>
          <p:cNvSpPr/>
          <p:nvPr/>
        </p:nvSpPr>
        <p:spPr>
          <a:xfrm>
            <a:off x="5177928" y="2249424"/>
            <a:ext cx="133734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Tuned BERT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6721019" y="2180844"/>
            <a:ext cx="65152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1400"/>
              <a:buFont typeface="Play"/>
              <a:buNone/>
            </a:pPr>
            <a:r>
              <a:rPr b="1" i="0" lang="en" sz="1400" u="none" cap="none" strike="noStrike">
                <a:solidFill>
                  <a:srgbClr val="FF3B47"/>
                </a:solidFill>
                <a:latin typeface="Play"/>
                <a:ea typeface="Play"/>
                <a:cs typeface="Play"/>
                <a:sym typeface="Play"/>
              </a:rPr>
              <a:t>0.8735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7441128" y="2249424"/>
            <a:ext cx="493789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macro F1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972183" y="2811780"/>
            <a:ext cx="3346793" cy="836676"/>
          </a:xfrm>
          <a:prstGeom prst="roundRect">
            <a:avLst>
              <a:gd fmla="val 9836" name="adj"/>
            </a:avLst>
          </a:prstGeom>
          <a:solidFill>
            <a:srgbClr val="0F172A"/>
          </a:solidFill>
          <a:ln cap="flat" cmpd="sng" w="12700">
            <a:solidFill>
              <a:srgbClr val="FF3B4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5095630" y="2839212"/>
            <a:ext cx="26061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2000"/>
              <a:buFont typeface="Georgia"/>
              <a:buNone/>
            </a:pPr>
            <a:r>
              <a:rPr b="1" i="0" lang="en" sz="2000" u="none" cap="none" strike="noStrike">
                <a:solidFill>
                  <a:srgbClr val="FF3B47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5328808" y="2969514"/>
            <a:ext cx="2811855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issue was not just model quality. Iteration 1 evaluated agreement with LLM-generated labels, so strong scores still did not establish scientific validity.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651527" y="3943350"/>
            <a:ext cx="7667448" cy="514350"/>
          </a:xfrm>
          <a:prstGeom prst="roundRect">
            <a:avLst>
              <a:gd fmla="val 16000" name="adj"/>
            </a:avLst>
          </a:prstGeom>
          <a:solidFill>
            <a:srgbClr val="0F172A"/>
          </a:solidFill>
          <a:ln cap="flat" cmpd="sng" w="12700">
            <a:solidFill>
              <a:srgbClr val="3DE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822982" y="4107942"/>
            <a:ext cx="925855" cy="144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Project decision: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1714546" y="4107942"/>
            <a:ext cx="5898037" cy="144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Keep the weak-label work as an archived baseline, but move the final claim to the human-labeled Iteration 2 benchmark.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0" name="Google Shape;3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2" name="Google Shape;322;p23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23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Experiment 1: binary classification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Lexical methods are already strong; BERT still adds a real held-out gain.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514364" y="1316736"/>
            <a:ext cx="4183492" cy="2708910"/>
          </a:xfrm>
          <a:prstGeom prst="roundRect">
            <a:avLst>
              <a:gd fmla="val 3038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720109" y="1495044"/>
            <a:ext cx="1440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Test F1 by model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23"/>
          <p:cNvCxnSpPr/>
          <p:nvPr/>
        </p:nvCxnSpPr>
        <p:spPr>
          <a:xfrm>
            <a:off x="768116" y="3326130"/>
            <a:ext cx="3531964" cy="0"/>
          </a:xfrm>
          <a:prstGeom prst="straightConnector1">
            <a:avLst/>
          </a:prstGeom>
          <a:noFill/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23"/>
          <p:cNvCxnSpPr/>
          <p:nvPr/>
        </p:nvCxnSpPr>
        <p:spPr>
          <a:xfrm>
            <a:off x="768116" y="1954530"/>
            <a:ext cx="0" cy="1371600"/>
          </a:xfrm>
          <a:prstGeom prst="straightConnector1">
            <a:avLst/>
          </a:prstGeom>
          <a:noFill/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23"/>
          <p:cNvSpPr/>
          <p:nvPr/>
        </p:nvSpPr>
        <p:spPr>
          <a:xfrm>
            <a:off x="768116" y="2111715"/>
            <a:ext cx="769831" cy="1214415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685818" y="3394710"/>
            <a:ext cx="9344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LogReg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713251" y="1892259"/>
            <a:ext cx="87956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0.8854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1688828" y="2107601"/>
            <a:ext cx="769831" cy="1218530"/>
          </a:xfrm>
          <a:prstGeom prst="rect">
            <a:avLst/>
          </a:prstGeom>
          <a:solidFill>
            <a:srgbClr val="6D83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1606529" y="3394710"/>
            <a:ext cx="9344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Linear SVC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1633962" y="1888145"/>
            <a:ext cx="87956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0.8884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2609539" y="2104583"/>
            <a:ext cx="769831" cy="1221547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2527240" y="3394710"/>
            <a:ext cx="9344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FFNN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2554673" y="1885127"/>
            <a:ext cx="87956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0.8906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3530250" y="2060280"/>
            <a:ext cx="769831" cy="126585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3447951" y="3394710"/>
            <a:ext cx="9344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3475384" y="1840824"/>
            <a:ext cx="87956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0.9229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733826" y="1735074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4924175" y="1316736"/>
            <a:ext cx="1632248" cy="918972"/>
          </a:xfrm>
          <a:prstGeom prst="roundRect">
            <a:avLst>
              <a:gd fmla="val 8955" name="adj"/>
            </a:avLst>
          </a:prstGeom>
          <a:solidFill>
            <a:srgbClr val="131A2A"/>
          </a:solidFill>
          <a:ln cap="flat" cmpd="sng" w="12700">
            <a:solidFill>
              <a:srgbClr val="FF3B47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5095630" y="1335786"/>
            <a:ext cx="1289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FF3B47"/>
                </a:solidFill>
                <a:latin typeface="Play"/>
                <a:ea typeface="Play"/>
                <a:cs typeface="Play"/>
                <a:sym typeface="Play"/>
              </a:rPr>
              <a:t>+0.0323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5095630" y="1629156"/>
            <a:ext cx="1289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Gain over FFNN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5095625" y="1801600"/>
            <a:ext cx="1289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 adds contextual value even when binary detection is easy.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6734736" y="1316736"/>
            <a:ext cx="1632248" cy="918972"/>
          </a:xfrm>
          <a:prstGeom prst="roundRect">
            <a:avLst>
              <a:gd fmla="val 8955" name="adj"/>
            </a:avLst>
          </a:prstGeom>
          <a:solidFill>
            <a:srgbClr val="131A2A"/>
          </a:solidFill>
          <a:ln cap="flat" cmpd="sng" w="12700">
            <a:solidFill>
              <a:srgbClr val="3DEB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6906190" y="1335786"/>
            <a:ext cx="1289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3DEBFF"/>
                </a:solidFill>
                <a:latin typeface="Play"/>
                <a:ea typeface="Play"/>
                <a:cs typeface="Play"/>
                <a:sym typeface="Play"/>
              </a:rPr>
              <a:t>+0.0345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6906190" y="1629156"/>
            <a:ext cx="1289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Gain over Linear SVC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6906199" y="1801600"/>
            <a:ext cx="1289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Cheap lexical baseline is not enough to match BERT.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4924175" y="2482596"/>
            <a:ext cx="3442808" cy="1543050"/>
          </a:xfrm>
          <a:prstGeom prst="roundRect">
            <a:avLst>
              <a:gd fmla="val 5333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5123063" y="2577846"/>
            <a:ext cx="198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Approx. BERT confusion matrix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5123077" y="2769647"/>
            <a:ext cx="2958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counts reconstructed from reported precision/recall on 1,249 test posts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5619693" y="2861349"/>
            <a:ext cx="9741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50"/>
              <a:buFont typeface="Arial"/>
              <a:buNone/>
            </a:pPr>
            <a:r>
              <a:rPr b="0" i="0" lang="en" sz="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predicted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 rot="-5400000">
            <a:off x="5083250" y="3376723"/>
            <a:ext cx="3015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50"/>
              <a:buFont typeface="Arial"/>
              <a:buNone/>
            </a:pPr>
            <a:r>
              <a:rPr b="0" i="0" lang="en" sz="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5680194" y="2974463"/>
            <a:ext cx="427500" cy="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458"/>
              <a:buFont typeface="Arial"/>
              <a:buNone/>
            </a:pPr>
            <a:r>
              <a:rPr b="0" i="0" lang="en" sz="458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endParaRPr b="0" i="0" sz="45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6107526" y="2974463"/>
            <a:ext cx="427500" cy="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458"/>
              <a:buFont typeface="Arial"/>
              <a:buNone/>
            </a:pPr>
            <a:r>
              <a:rPr b="0" i="0" lang="en" sz="458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</a:t>
            </a:r>
            <a:endParaRPr b="0" i="0" sz="45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5284283" y="3156703"/>
            <a:ext cx="3456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458"/>
              <a:buFont typeface="Arial"/>
              <a:buNone/>
            </a:pPr>
            <a:r>
              <a:rPr b="0" i="0" lang="en" sz="458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endParaRPr b="0" i="0" sz="45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284283" y="3584023"/>
            <a:ext cx="3456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458"/>
              <a:buFont typeface="Arial"/>
              <a:buNone/>
            </a:pPr>
            <a:r>
              <a:rPr b="0" i="0" lang="en" sz="458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</a:t>
            </a:r>
            <a:endParaRPr b="0" i="0" sz="45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686478" y="3125282"/>
            <a:ext cx="402300" cy="402300"/>
          </a:xfrm>
          <a:prstGeom prst="roundRect">
            <a:avLst>
              <a:gd fmla="val 7813" name="adj"/>
            </a:avLst>
          </a:prstGeom>
          <a:solidFill>
            <a:srgbClr val="3DEBFF">
              <a:alpha val="80000"/>
            </a:srgbClr>
          </a:solidFill>
          <a:ln cap="flat" cmpd="sng" w="11625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25" lIns="62825" spcFirstLastPara="1" rIns="62825" wrap="square" tIns="62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5686478" y="3250965"/>
            <a:ext cx="4023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33"/>
              <a:buFont typeface="Arial"/>
              <a:buNone/>
            </a:pPr>
            <a:r>
              <a:rPr b="1" i="0" lang="en" sz="733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446</a:t>
            </a:r>
            <a:endParaRPr b="0" i="0" sz="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6113810" y="3125282"/>
            <a:ext cx="402300" cy="402300"/>
          </a:xfrm>
          <a:prstGeom prst="roundRect">
            <a:avLst>
              <a:gd fmla="val 7813" name="adj"/>
            </a:avLst>
          </a:prstGeom>
          <a:solidFill>
            <a:srgbClr val="0F172A"/>
          </a:solidFill>
          <a:ln cap="flat" cmpd="sng" w="11625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25" lIns="62825" spcFirstLastPara="1" rIns="62825" wrap="square" tIns="62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6113810" y="3250965"/>
            <a:ext cx="4023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33"/>
              <a:buFont typeface="Arial"/>
              <a:buNone/>
            </a:pPr>
            <a:r>
              <a:rPr b="1" i="0" lang="en" sz="733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b="0" i="0" sz="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686478" y="3552602"/>
            <a:ext cx="402300" cy="402300"/>
          </a:xfrm>
          <a:prstGeom prst="roundRect">
            <a:avLst>
              <a:gd fmla="val 7813" name="adj"/>
            </a:avLst>
          </a:prstGeom>
          <a:solidFill>
            <a:srgbClr val="0F172A"/>
          </a:solidFill>
          <a:ln cap="flat" cmpd="sng" w="11625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25" lIns="62825" spcFirstLastPara="1" rIns="62825" wrap="square" tIns="62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5686478" y="3678284"/>
            <a:ext cx="4023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33"/>
              <a:buFont typeface="Arial"/>
              <a:buNone/>
            </a:pPr>
            <a:r>
              <a:rPr b="1" i="0" lang="en" sz="733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 b="0" i="0" sz="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6113810" y="3552602"/>
            <a:ext cx="402300" cy="402300"/>
          </a:xfrm>
          <a:prstGeom prst="roundRect">
            <a:avLst>
              <a:gd fmla="val 7813" name="adj"/>
            </a:avLst>
          </a:prstGeom>
          <a:solidFill>
            <a:srgbClr val="FF3B47"/>
          </a:solidFill>
          <a:ln cap="flat" cmpd="sng" w="11625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25" lIns="62825" spcFirstLastPara="1" rIns="62825" wrap="square" tIns="62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6113810" y="3678284"/>
            <a:ext cx="4023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33"/>
              <a:buFont typeface="Arial"/>
              <a:buNone/>
            </a:pPr>
            <a:r>
              <a:rPr b="1" i="0" lang="en" sz="733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688</a:t>
            </a:r>
            <a:endParaRPr b="0" i="0" sz="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7143947" y="3068574"/>
            <a:ext cx="480000" cy="246900"/>
          </a:xfrm>
          <a:prstGeom prst="roundRect">
            <a:avLst>
              <a:gd fmla="val 36111" name="adj"/>
            </a:avLst>
          </a:prstGeom>
          <a:solidFill>
            <a:srgbClr val="FF3B47"/>
          </a:solidFill>
          <a:ln cap="flat" cmpd="sng" w="12700">
            <a:solidFill>
              <a:srgbClr val="FF3B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7143947" y="3106293"/>
            <a:ext cx="480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109346" y="4072128"/>
            <a:ext cx="2743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Accuracy 0.9079 · Precision 0.9210 · Recall 0.9247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8" name="Google Shape;3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4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0" name="Google Shape;380;p24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24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Experiment 2: multiclass classification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five-class task is the clearest place where contextual modeling matters.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514364" y="1316736"/>
            <a:ext cx="4183492" cy="2708910"/>
          </a:xfrm>
          <a:prstGeom prst="roundRect">
            <a:avLst>
              <a:gd fmla="val 3038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720109" y="1495044"/>
            <a:ext cx="1440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Macro F1 by model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24"/>
          <p:cNvCxnSpPr/>
          <p:nvPr/>
        </p:nvCxnSpPr>
        <p:spPr>
          <a:xfrm>
            <a:off x="768116" y="3326130"/>
            <a:ext cx="3531964" cy="0"/>
          </a:xfrm>
          <a:prstGeom prst="straightConnector1">
            <a:avLst/>
          </a:prstGeom>
          <a:noFill/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24"/>
          <p:cNvCxnSpPr/>
          <p:nvPr/>
        </p:nvCxnSpPr>
        <p:spPr>
          <a:xfrm>
            <a:off x="768116" y="1954530"/>
            <a:ext cx="0" cy="1371600"/>
          </a:xfrm>
          <a:prstGeom prst="straightConnector1">
            <a:avLst/>
          </a:prstGeom>
          <a:noFill/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24"/>
          <p:cNvSpPr/>
          <p:nvPr/>
        </p:nvSpPr>
        <p:spPr>
          <a:xfrm>
            <a:off x="768116" y="2315901"/>
            <a:ext cx="769831" cy="1010229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685818" y="3394710"/>
            <a:ext cx="9344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LogReg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713251" y="2096445"/>
            <a:ext cx="87956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0.5524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1688828" y="2338029"/>
            <a:ext cx="769831" cy="988101"/>
          </a:xfrm>
          <a:prstGeom prst="rect">
            <a:avLst/>
          </a:prstGeom>
          <a:solidFill>
            <a:srgbClr val="6D83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1606529" y="3394710"/>
            <a:ext cx="9344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Linear SVC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1633962" y="2118573"/>
            <a:ext cx="87956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0.5403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2609539" y="2393259"/>
            <a:ext cx="769831" cy="932871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2527240" y="3394710"/>
            <a:ext cx="9344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FFNN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2554673" y="2173803"/>
            <a:ext cx="87956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0.5101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3530250" y="2154784"/>
            <a:ext cx="769831" cy="1171346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3447951" y="3394710"/>
            <a:ext cx="9344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3475384" y="1935328"/>
            <a:ext cx="87956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0.6405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733826" y="1735074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Macro F1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4972183" y="1316736"/>
            <a:ext cx="3394800" cy="2708910"/>
          </a:xfrm>
          <a:prstGeom prst="roundRect">
            <a:avLst>
              <a:gd fmla="val 3038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5177928" y="1495044"/>
            <a:ext cx="15773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Full result snapshot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5177928" y="1796796"/>
            <a:ext cx="2935302" cy="1591056"/>
          </a:xfrm>
          <a:prstGeom prst="roundRect">
            <a:avLst>
              <a:gd fmla="val 3017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5177928" y="1796796"/>
            <a:ext cx="2935302" cy="318211"/>
          </a:xfrm>
          <a:prstGeom prst="roundRect">
            <a:avLst>
              <a:gd fmla="val 15086" name="adj"/>
            </a:avLst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5232793" y="1851660"/>
            <a:ext cx="884706" cy="249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6227230" y="1851660"/>
            <a:ext cx="493789" cy="249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6830750" y="1851660"/>
            <a:ext cx="493789" cy="249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Micro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7434270" y="1851660"/>
            <a:ext cx="493789" cy="249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Macro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24"/>
          <p:cNvCxnSpPr/>
          <p:nvPr/>
        </p:nvCxnSpPr>
        <p:spPr>
          <a:xfrm>
            <a:off x="5177928" y="2115007"/>
            <a:ext cx="2935302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24"/>
          <p:cNvSpPr/>
          <p:nvPr/>
        </p:nvSpPr>
        <p:spPr>
          <a:xfrm>
            <a:off x="5232793" y="2176730"/>
            <a:ext cx="884706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LogReg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6227230" y="2176730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0.6645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6830750" y="2176730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0.6645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7434270" y="2176730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0.5524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24"/>
          <p:cNvCxnSpPr/>
          <p:nvPr/>
        </p:nvCxnSpPr>
        <p:spPr>
          <a:xfrm>
            <a:off x="5177928" y="2433218"/>
            <a:ext cx="2935302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4"/>
          <p:cNvSpPr/>
          <p:nvPr/>
        </p:nvSpPr>
        <p:spPr>
          <a:xfrm>
            <a:off x="5232793" y="2494940"/>
            <a:ext cx="884706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Linear SVC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6227230" y="2494940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0.6797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6830750" y="2494940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0.6797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7434270" y="2494940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0.5403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24"/>
          <p:cNvCxnSpPr/>
          <p:nvPr/>
        </p:nvCxnSpPr>
        <p:spPr>
          <a:xfrm>
            <a:off x="5177928" y="2751430"/>
            <a:ext cx="2935302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24"/>
          <p:cNvSpPr/>
          <p:nvPr/>
        </p:nvSpPr>
        <p:spPr>
          <a:xfrm>
            <a:off x="5232793" y="2813152"/>
            <a:ext cx="884706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FFNN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6227230" y="2813152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0.6373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6830750" y="2813152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0.6373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7434270" y="2813152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0.5101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p24"/>
          <p:cNvCxnSpPr/>
          <p:nvPr/>
        </p:nvCxnSpPr>
        <p:spPr>
          <a:xfrm>
            <a:off x="5177928" y="3069641"/>
            <a:ext cx="2935302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24"/>
          <p:cNvSpPr/>
          <p:nvPr/>
        </p:nvSpPr>
        <p:spPr>
          <a:xfrm>
            <a:off x="5232793" y="3131363"/>
            <a:ext cx="884706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3B47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6227230" y="3131363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3B47"/>
                </a:solidFill>
                <a:latin typeface="Arial"/>
                <a:ea typeface="Arial"/>
                <a:cs typeface="Arial"/>
                <a:sym typeface="Arial"/>
              </a:rPr>
              <a:t>0.7390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6830750" y="3131363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3B47"/>
                </a:solidFill>
                <a:latin typeface="Arial"/>
                <a:ea typeface="Arial"/>
                <a:cs typeface="Arial"/>
                <a:sym typeface="Arial"/>
              </a:rPr>
              <a:t>0.7390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7434270" y="3131363"/>
            <a:ext cx="49378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3B47"/>
                </a:solidFill>
                <a:latin typeface="Arial"/>
                <a:ea typeface="Arial"/>
                <a:cs typeface="Arial"/>
                <a:sym typeface="Arial"/>
              </a:rPr>
              <a:t>0.6405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5177928" y="3531870"/>
            <a:ext cx="2935302" cy="425196"/>
          </a:xfrm>
          <a:prstGeom prst="roundRect">
            <a:avLst>
              <a:gd fmla="val 19355" name="adj"/>
            </a:avLst>
          </a:prstGeom>
          <a:solidFill>
            <a:srgbClr val="0F172A"/>
          </a:solidFill>
          <a:ln cap="flat" cmpd="sng" w="12700">
            <a:solidFill>
              <a:srgbClr val="FF3B47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5369957" y="3675888"/>
            <a:ext cx="25032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+0.0881 macro F1 over the best non-transformer baseline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521222" y="4238244"/>
            <a:ext cx="857273" cy="246888"/>
          </a:xfrm>
          <a:prstGeom prst="roundRect">
            <a:avLst>
              <a:gd fmla="val 36111" name="adj"/>
            </a:avLst>
          </a:prstGeom>
          <a:solidFill>
            <a:srgbClr val="3DEBFF"/>
          </a:solidFill>
          <a:ln cap="flat" cmpd="sng" w="12700">
            <a:solidFill>
              <a:srgbClr val="3DE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4"/>
          <p:cNvSpPr/>
          <p:nvPr/>
        </p:nvSpPr>
        <p:spPr>
          <a:xfrm>
            <a:off x="521222" y="4275963"/>
            <a:ext cx="857273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B0F1A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1453935" y="4217670"/>
            <a:ext cx="665243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categories overlap semantically: a post can be profane, trolling, derogatory, or hateful depending on target, intent, and harm. BERT helps because token context matters more here than in the binary task.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1" name="Google Shape;4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5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3" name="Google Shape;443;p25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25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Class-wise gains: BERT lifts every category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Minority abusive classes still remain the hardest boundary cases.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514364" y="1316736"/>
            <a:ext cx="4800728" cy="2935224"/>
          </a:xfrm>
          <a:prstGeom prst="roundRect">
            <a:avLst>
              <a:gd fmla="val 2804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720109" y="1495044"/>
            <a:ext cx="2880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F1 by class: Logistic Regression vs BERT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25"/>
          <p:cNvCxnSpPr/>
          <p:nvPr/>
        </p:nvCxnSpPr>
        <p:spPr>
          <a:xfrm>
            <a:off x="768116" y="3614166"/>
            <a:ext cx="4080619" cy="0"/>
          </a:xfrm>
          <a:prstGeom prst="straightConnector1">
            <a:avLst/>
          </a:prstGeom>
          <a:noFill/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25"/>
          <p:cNvSpPr/>
          <p:nvPr/>
        </p:nvSpPr>
        <p:spPr>
          <a:xfrm>
            <a:off x="825506" y="2220530"/>
            <a:ext cx="272599" cy="1393636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5"/>
          <p:cNvSpPr/>
          <p:nvPr/>
        </p:nvSpPr>
        <p:spPr>
          <a:xfrm>
            <a:off x="1148320" y="2126038"/>
            <a:ext cx="272599" cy="1488128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740684" y="3682746"/>
            <a:ext cx="77223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1666319" y="2577973"/>
            <a:ext cx="272599" cy="1036193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5"/>
          <p:cNvSpPr/>
          <p:nvPr/>
        </p:nvSpPr>
        <p:spPr>
          <a:xfrm>
            <a:off x="1989133" y="2367443"/>
            <a:ext cx="272599" cy="1246723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5"/>
          <p:cNvSpPr/>
          <p:nvPr/>
        </p:nvSpPr>
        <p:spPr>
          <a:xfrm>
            <a:off x="1581497" y="3682746"/>
            <a:ext cx="77223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Profanity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2507132" y="2562026"/>
            <a:ext cx="272599" cy="1052140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5"/>
          <p:cNvSpPr/>
          <p:nvPr/>
        </p:nvSpPr>
        <p:spPr>
          <a:xfrm>
            <a:off x="2829947" y="2451587"/>
            <a:ext cx="272599" cy="1162579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"/>
          <p:cNvSpPr/>
          <p:nvPr/>
        </p:nvSpPr>
        <p:spPr>
          <a:xfrm>
            <a:off x="2422310" y="3682746"/>
            <a:ext cx="77223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Trolling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3347945" y="3037712"/>
            <a:ext cx="272599" cy="576454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/>
          <p:nvPr/>
        </p:nvSpPr>
        <p:spPr>
          <a:xfrm>
            <a:off x="3670760" y="2870441"/>
            <a:ext cx="272599" cy="743725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5"/>
          <p:cNvSpPr/>
          <p:nvPr/>
        </p:nvSpPr>
        <p:spPr>
          <a:xfrm>
            <a:off x="3263123" y="3682746"/>
            <a:ext cx="77223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Derog.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4188759" y="2987157"/>
            <a:ext cx="272599" cy="627009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5"/>
          <p:cNvSpPr/>
          <p:nvPr/>
        </p:nvSpPr>
        <p:spPr>
          <a:xfrm>
            <a:off x="4511574" y="2822432"/>
            <a:ext cx="272599" cy="791734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4103937" y="3682746"/>
            <a:ext cx="77223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Hate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3579953" y="1722120"/>
            <a:ext cx="116700" cy="116700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5"/>
          <p:cNvSpPr/>
          <p:nvPr/>
        </p:nvSpPr>
        <p:spPr>
          <a:xfrm>
            <a:off x="3737691" y="1701546"/>
            <a:ext cx="582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LogReg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4423510" y="1722120"/>
            <a:ext cx="116700" cy="11670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5"/>
          <p:cNvSpPr/>
          <p:nvPr/>
        </p:nvSpPr>
        <p:spPr>
          <a:xfrm>
            <a:off x="4581248" y="1701546"/>
            <a:ext cx="445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5541412" y="1316736"/>
            <a:ext cx="2811855" cy="822960"/>
          </a:xfrm>
          <a:prstGeom prst="roundRect">
            <a:avLst>
              <a:gd fmla="val 10000" name="adj"/>
            </a:avLst>
          </a:prstGeom>
          <a:solidFill>
            <a:srgbClr val="131A2A"/>
          </a:solidFill>
          <a:ln cap="flat" cmpd="sng" w="12700">
            <a:solidFill>
              <a:srgbClr val="3DE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5"/>
          <p:cNvSpPr/>
          <p:nvPr/>
        </p:nvSpPr>
        <p:spPr>
          <a:xfrm>
            <a:off x="5726583" y="1405128"/>
            <a:ext cx="1508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Largest absolute gain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5726583" y="1672590"/>
            <a:ext cx="21261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Play"/>
              <a:buNone/>
            </a:pPr>
            <a:r>
              <a:rPr b="1" i="0" lang="en" sz="1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Profanity +0.1241 F1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5541412" y="2297430"/>
            <a:ext cx="2811855" cy="822960"/>
          </a:xfrm>
          <a:prstGeom prst="roundRect">
            <a:avLst>
              <a:gd fmla="val 10000" name="adj"/>
            </a:avLst>
          </a:prstGeom>
          <a:solidFill>
            <a:srgbClr val="131A2A"/>
          </a:solidFill>
          <a:ln cap="flat" cmpd="sng" w="12700">
            <a:solidFill>
              <a:srgbClr val="FF3B47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5726583" y="2385822"/>
            <a:ext cx="157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3B47"/>
                </a:solidFill>
                <a:latin typeface="Arial"/>
                <a:ea typeface="Arial"/>
                <a:cs typeface="Arial"/>
                <a:sym typeface="Arial"/>
              </a:rPr>
              <a:t>Hardest retained challenge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5726583" y="2577084"/>
            <a:ext cx="21261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Play"/>
              <a:buNone/>
            </a:pPr>
            <a:r>
              <a:rPr b="1" i="0" lang="en" sz="1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Derogatory + Hate Speech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5541412" y="3278124"/>
            <a:ext cx="2811855" cy="973836"/>
          </a:xfrm>
          <a:prstGeom prst="roundRect">
            <a:avLst>
              <a:gd fmla="val 8451" name="adj"/>
            </a:avLst>
          </a:prstGeom>
          <a:solidFill>
            <a:srgbClr val="0F172A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5726583" y="3449574"/>
            <a:ext cx="102872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5726583" y="3696462"/>
            <a:ext cx="222890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BERT is more robust, but the tail classes are still constrained by sparse data and annotation-boundary overlap.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5" name="Google Shape;4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6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7" name="Google Shape;487;p26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26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Confusion structure: where categories blur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Dominant errors cluster around semantic and pragmatic boundaries, not just missing words.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3" name="Google Shape;4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89" y="1131570"/>
            <a:ext cx="4834890" cy="270891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6"/>
          <p:cNvSpPr/>
          <p:nvPr/>
        </p:nvSpPr>
        <p:spPr>
          <a:xfrm>
            <a:off x="5520837" y="1268730"/>
            <a:ext cx="2914728" cy="2434590"/>
          </a:xfrm>
          <a:prstGeom prst="roundRect">
            <a:avLst>
              <a:gd fmla="val 3380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/>
          <p:nvPr/>
        </p:nvSpPr>
        <p:spPr>
          <a:xfrm>
            <a:off x="5726583" y="1453896"/>
            <a:ext cx="19202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Top symmetric confusion pairs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5719724" y="1837944"/>
            <a:ext cx="322335" cy="192024"/>
          </a:xfrm>
          <a:prstGeom prst="roundRect">
            <a:avLst>
              <a:gd fmla="val 21429" name="adj"/>
            </a:avLst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6"/>
          <p:cNvSpPr/>
          <p:nvPr/>
        </p:nvSpPr>
        <p:spPr>
          <a:xfrm>
            <a:off x="6117499" y="1872234"/>
            <a:ext cx="17488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Derogatory ↔ Trolling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797754" y="1872234"/>
            <a:ext cx="3086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5719724" y="2153412"/>
            <a:ext cx="322335" cy="192024"/>
          </a:xfrm>
          <a:prstGeom prst="roundRect">
            <a:avLst>
              <a:gd fmla="val 21429" name="adj"/>
            </a:avLst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6"/>
          <p:cNvSpPr/>
          <p:nvPr/>
        </p:nvSpPr>
        <p:spPr>
          <a:xfrm>
            <a:off x="6117499" y="2187702"/>
            <a:ext cx="17488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Normal ↔ Trolling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7797754" y="2187702"/>
            <a:ext cx="3086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5719724" y="2468880"/>
            <a:ext cx="322335" cy="192024"/>
          </a:xfrm>
          <a:prstGeom prst="roundRect">
            <a:avLst>
              <a:gd fmla="val 21429" name="adj"/>
            </a:avLst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6117499" y="2503170"/>
            <a:ext cx="17488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Profanity ↔ Trolling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7797754" y="2503170"/>
            <a:ext cx="3086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5719724" y="2784348"/>
            <a:ext cx="322335" cy="192024"/>
          </a:xfrm>
          <a:prstGeom prst="roundRect">
            <a:avLst>
              <a:gd fmla="val 21429" name="adj"/>
            </a:avLst>
          </a:prstGeom>
          <a:solidFill>
            <a:srgbClr val="94A3B8">
              <a:alpha val="54901"/>
            </a:srgbClr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6"/>
          <p:cNvSpPr/>
          <p:nvPr/>
        </p:nvSpPr>
        <p:spPr>
          <a:xfrm>
            <a:off x="6117499" y="2818638"/>
            <a:ext cx="17488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Normal ↔ Profanity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7797754" y="2818638"/>
            <a:ext cx="3086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5719724" y="3099816"/>
            <a:ext cx="322335" cy="192024"/>
          </a:xfrm>
          <a:prstGeom prst="roundRect">
            <a:avLst>
              <a:gd fmla="val 21429" name="adj"/>
            </a:avLst>
          </a:prstGeom>
          <a:solidFill>
            <a:srgbClr val="94A3B8">
              <a:alpha val="54901"/>
            </a:srgbClr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6"/>
          <p:cNvSpPr/>
          <p:nvPr/>
        </p:nvSpPr>
        <p:spPr>
          <a:xfrm>
            <a:off x="6117499" y="3134106"/>
            <a:ext cx="17488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Derogatory ↔ Hate Speech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7797754" y="3134106"/>
            <a:ext cx="3086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617236" y="4011930"/>
            <a:ext cx="7681165" cy="534924"/>
          </a:xfrm>
          <a:prstGeom prst="roundRect">
            <a:avLst>
              <a:gd fmla="val 15385" name="adj"/>
            </a:avLst>
          </a:prstGeom>
          <a:solidFill>
            <a:srgbClr val="0F172A"/>
          </a:solidFill>
          <a:ln cap="flat" cmpd="sng" w="12700">
            <a:solidFill>
              <a:srgbClr val="FF3B4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6"/>
          <p:cNvSpPr/>
          <p:nvPr/>
        </p:nvSpPr>
        <p:spPr>
          <a:xfrm>
            <a:off x="740684" y="4039362"/>
            <a:ext cx="26061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47"/>
              </a:buClr>
              <a:buSzPts val="2000"/>
              <a:buFont typeface="Georgia"/>
              <a:buNone/>
            </a:pPr>
            <a:r>
              <a:rPr b="1" i="0" lang="en" sz="2000" u="none" cap="none" strike="noStrike">
                <a:solidFill>
                  <a:srgbClr val="FF3B47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973862" y="4169664"/>
            <a:ext cx="7146226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model sees surface hostility, but the label often depends on target, pragmatic intent, and whether the post is insulting, baiting, or hateful.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9" name="Google Shape;5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7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1" name="Google Shape;521;p27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27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425199" y="507500"/>
            <a:ext cx="6752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Error analysis: remaining failures are semantic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Hard BERT errors are not primarily out-of-vocabulary problems.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514364" y="1248156"/>
            <a:ext cx="2400364" cy="1062990"/>
          </a:xfrm>
          <a:prstGeom prst="roundRect">
            <a:avLst>
              <a:gd fmla="val 7742" name="adj"/>
            </a:avLst>
          </a:prstGeom>
          <a:solidFill>
            <a:srgbClr val="131A2A"/>
          </a:solidFill>
          <a:ln cap="flat" cmpd="sng" w="12700">
            <a:solidFill>
              <a:srgbClr val="FF3B4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514364" y="1248156"/>
            <a:ext cx="48007" cy="10629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685818" y="1371600"/>
            <a:ext cx="2091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Highest-confidence miss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685818" y="1659636"/>
            <a:ext cx="2091746" cy="5692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Hate Speech → Profanity on a redacted wish-of-harm example. The model recognizes profanity but underestimates the harmful intent.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514364" y="2455164"/>
            <a:ext cx="2400364" cy="1062990"/>
          </a:xfrm>
          <a:prstGeom prst="roundRect">
            <a:avLst>
              <a:gd fmla="val 7742" name="adj"/>
            </a:avLst>
          </a:prstGeom>
          <a:solidFill>
            <a:srgbClr val="131A2A"/>
          </a:solidFill>
          <a:ln cap="flat" cmpd="sng" w="12700">
            <a:solidFill>
              <a:srgbClr val="FFD16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7"/>
          <p:cNvSpPr/>
          <p:nvPr/>
        </p:nvSpPr>
        <p:spPr>
          <a:xfrm>
            <a:off x="514364" y="2455164"/>
            <a:ext cx="48007" cy="106299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685818" y="2578608"/>
            <a:ext cx="2091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Common boundary miss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685818" y="2866644"/>
            <a:ext cx="2091746" cy="5692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Trolling → Derogatory on short insult-heavy posts. Surface hostility obscures whether the post is baiting or targeted abuse.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514364" y="3662172"/>
            <a:ext cx="2400364" cy="788670"/>
          </a:xfrm>
          <a:prstGeom prst="roundRect">
            <a:avLst>
              <a:gd fmla="val 10435" name="adj"/>
            </a:avLst>
          </a:prstGeom>
          <a:solidFill>
            <a:srgbClr val="131A2A"/>
          </a:solidFill>
          <a:ln cap="flat" cmpd="sng" w="12700">
            <a:solidFill>
              <a:srgbClr val="3DEB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514364" y="3662172"/>
            <a:ext cx="48007" cy="788670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685818" y="3785616"/>
            <a:ext cx="2091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Reverse boundary miss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685818" y="4073652"/>
            <a:ext cx="2091746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Derogatory → Trolling when taunting style softens clearly targeted abuse. Tone and target interact.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9" name="Google Shape;53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7062" y="1289304"/>
            <a:ext cx="2571750" cy="211226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7"/>
          <p:cNvSpPr/>
          <p:nvPr/>
        </p:nvSpPr>
        <p:spPr>
          <a:xfrm>
            <a:off x="6069492" y="1316736"/>
            <a:ext cx="2366073" cy="2112264"/>
          </a:xfrm>
          <a:prstGeom prst="roundRect">
            <a:avLst>
              <a:gd fmla="val 3896" name="adj"/>
            </a:avLst>
          </a:prstGeom>
          <a:solidFill>
            <a:srgbClr val="0F172A"/>
          </a:solidFill>
          <a:ln cap="flat" cmpd="sng" w="12700">
            <a:solidFill>
              <a:srgbClr val="B388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6261521" y="1508760"/>
            <a:ext cx="1371637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88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B388FF"/>
                </a:solidFill>
                <a:latin typeface="Arial"/>
                <a:ea typeface="Arial"/>
                <a:cs typeface="Arial"/>
                <a:sym typeface="Arial"/>
              </a:rPr>
              <a:t>What this implies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6261525" y="1674683"/>
            <a:ext cx="1906500" cy="17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Play"/>
              <a:buNone/>
            </a:pPr>
            <a:r>
              <a:rPr b="1" i="0" lang="en" sz="1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More model capacity alone may not solve the hardest failures. The remaining work is about richer context, better borderline guidance, and evaluation splits that prevent leakage by author/source.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3237062" y="3936492"/>
            <a:ext cx="720109" cy="246888"/>
          </a:xfrm>
          <a:prstGeom prst="roundRect">
            <a:avLst>
              <a:gd fmla="val 36111" name="adj"/>
            </a:avLst>
          </a:prstGeom>
          <a:solidFill>
            <a:srgbClr val="FF3B47"/>
          </a:solidFill>
          <a:ln cap="flat" cmpd="sng" w="12700">
            <a:solidFill>
              <a:srgbClr val="FF3B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3237062" y="3974211"/>
            <a:ext cx="72010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4060044" y="3922776"/>
            <a:ext cx="397774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unresolved challenge is semantic overlap at the Trolling, Derogatory, and Hate Speech boundaries.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1" name="Google Shape;5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8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3" name="Google Shape;553;p28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28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Speed and deployment tradeoff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TF-IDF models are essentially free; BERT buys quality with compute.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514364" y="1316736"/>
            <a:ext cx="3840582" cy="2468880"/>
          </a:xfrm>
          <a:prstGeom prst="roundRect">
            <a:avLst>
              <a:gd fmla="val 3333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0" name="Google Shape;560;p28"/>
          <p:cNvCxnSpPr/>
          <p:nvPr/>
        </p:nvCxnSpPr>
        <p:spPr>
          <a:xfrm>
            <a:off x="768116" y="3161538"/>
            <a:ext cx="3257637" cy="0"/>
          </a:xfrm>
          <a:prstGeom prst="straightConnector1">
            <a:avLst/>
          </a:prstGeom>
          <a:noFill/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28"/>
          <p:cNvSpPr/>
          <p:nvPr/>
        </p:nvSpPr>
        <p:spPr>
          <a:xfrm>
            <a:off x="768116" y="2335085"/>
            <a:ext cx="721824" cy="826453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685818" y="3216402"/>
            <a:ext cx="8864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LogReg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603520" y="2122487"/>
            <a:ext cx="1051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16.31s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1613388" y="2800488"/>
            <a:ext cx="721824" cy="361050"/>
          </a:xfrm>
          <a:prstGeom prst="rect">
            <a:avLst/>
          </a:prstGeom>
          <a:solidFill>
            <a:srgbClr val="6D83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1531089" y="3216402"/>
            <a:ext cx="8864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SVC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1448791" y="2587890"/>
            <a:ext cx="1051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0.47s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2458659" y="2114120"/>
            <a:ext cx="721824" cy="104741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8"/>
          <p:cNvSpPr/>
          <p:nvPr/>
        </p:nvSpPr>
        <p:spPr>
          <a:xfrm>
            <a:off x="2376360" y="3216402"/>
            <a:ext cx="8864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FFNN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2294062" y="1901522"/>
            <a:ext cx="1051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1.5m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3303930" y="1923074"/>
            <a:ext cx="721824" cy="1238464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8"/>
          <p:cNvSpPr/>
          <p:nvPr/>
        </p:nvSpPr>
        <p:spPr>
          <a:xfrm>
            <a:off x="3221631" y="3216402"/>
            <a:ext cx="8864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3139333" y="1710476"/>
            <a:ext cx="1051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6.3m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768116" y="1591056"/>
            <a:ext cx="325763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Multiclass train time (seconds)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3545681" y="3538728"/>
            <a:ext cx="48007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log scale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4608699" y="1316736"/>
            <a:ext cx="3840582" cy="2468880"/>
          </a:xfrm>
          <a:prstGeom prst="roundRect">
            <a:avLst>
              <a:gd fmla="val 3333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6" name="Google Shape;576;p28"/>
          <p:cNvCxnSpPr/>
          <p:nvPr/>
        </p:nvCxnSpPr>
        <p:spPr>
          <a:xfrm>
            <a:off x="4869310" y="3161538"/>
            <a:ext cx="3257637" cy="0"/>
          </a:xfrm>
          <a:prstGeom prst="straightConnector1">
            <a:avLst/>
          </a:prstGeom>
          <a:noFill/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28"/>
          <p:cNvSpPr/>
          <p:nvPr/>
        </p:nvSpPr>
        <p:spPr>
          <a:xfrm>
            <a:off x="4869310" y="3048160"/>
            <a:ext cx="721824" cy="113378"/>
          </a:xfrm>
          <a:prstGeom prst="rect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8"/>
          <p:cNvSpPr/>
          <p:nvPr/>
        </p:nvSpPr>
        <p:spPr>
          <a:xfrm>
            <a:off x="4787012" y="3216402"/>
            <a:ext cx="8864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LogReg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4704713" y="2835562"/>
            <a:ext cx="1051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1.0ms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8"/>
          <p:cNvSpPr/>
          <p:nvPr/>
        </p:nvSpPr>
        <p:spPr>
          <a:xfrm>
            <a:off x="5714581" y="2997989"/>
            <a:ext cx="721824" cy="163549"/>
          </a:xfrm>
          <a:prstGeom prst="rect">
            <a:avLst/>
          </a:prstGeom>
          <a:solidFill>
            <a:srgbClr val="6D83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5632283" y="3216402"/>
            <a:ext cx="8864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SVC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5549984" y="2785391"/>
            <a:ext cx="1051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1.5ms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6559852" y="2428082"/>
            <a:ext cx="721824" cy="733456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8"/>
          <p:cNvSpPr/>
          <p:nvPr/>
        </p:nvSpPr>
        <p:spPr>
          <a:xfrm>
            <a:off x="6477554" y="3216402"/>
            <a:ext cx="8864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FFNN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6395255" y="2215484"/>
            <a:ext cx="1051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0.15s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7405123" y="1910255"/>
            <a:ext cx="721824" cy="1251284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/>
          <p:nvPr/>
        </p:nvSpPr>
        <p:spPr>
          <a:xfrm>
            <a:off x="7322825" y="3216402"/>
            <a:ext cx="8864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7240527" y="1697656"/>
            <a:ext cx="1051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9.86s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4869310" y="1591056"/>
            <a:ext cx="325763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Multiclass prediction time (seconds)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7646874" y="3538728"/>
            <a:ext cx="48007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log scale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514364" y="4059936"/>
            <a:ext cx="2434655" cy="445770"/>
          </a:xfrm>
          <a:prstGeom prst="roundRect">
            <a:avLst>
              <a:gd fmla="val 18462" name="adj"/>
            </a:avLst>
          </a:prstGeom>
          <a:solidFill>
            <a:srgbClr val="0F172A"/>
          </a:solidFill>
          <a:ln cap="flat" cmpd="sng" w="12700">
            <a:solidFill>
              <a:srgbClr val="3DE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"/>
          <p:cNvSpPr/>
          <p:nvPr/>
        </p:nvSpPr>
        <p:spPr>
          <a:xfrm>
            <a:off x="685818" y="4217670"/>
            <a:ext cx="198887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TF-IDF: deploy when speed is king.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3346793" y="4059936"/>
            <a:ext cx="2434655" cy="445770"/>
          </a:xfrm>
          <a:prstGeom prst="roundRect">
            <a:avLst>
              <a:gd fmla="val 18462" name="adj"/>
            </a:avLst>
          </a:prstGeom>
          <a:solidFill>
            <a:srgbClr val="0F172A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/>
          <p:nvPr/>
        </p:nvSpPr>
        <p:spPr>
          <a:xfrm>
            <a:off x="3511390" y="4217670"/>
            <a:ext cx="198887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FFNN: costs more, adds little here.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6172365" y="4059936"/>
            <a:ext cx="2276917" cy="445770"/>
          </a:xfrm>
          <a:prstGeom prst="roundRect">
            <a:avLst>
              <a:gd fmla="val 18462" name="adj"/>
            </a:avLst>
          </a:prstGeom>
          <a:solidFill>
            <a:srgbClr val="0F172A"/>
          </a:solidFill>
          <a:ln cap="flat" cmpd="sng" w="12700">
            <a:solidFill>
              <a:srgbClr val="FF3B47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8"/>
          <p:cNvSpPr/>
          <p:nvPr/>
        </p:nvSpPr>
        <p:spPr>
          <a:xfrm>
            <a:off x="6343819" y="4217670"/>
            <a:ext cx="18174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BERT: best quality, serious cost.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2" name="Google Shape;6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9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4" name="Google Shape;604;p29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29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9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425207" y="507492"/>
            <a:ext cx="57608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Play"/>
              <a:buNone/>
            </a:pPr>
            <a:r>
              <a:rPr b="1" i="0" lang="en" sz="2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Final takeaways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445782" y="932688"/>
            <a:ext cx="71325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project now has a clearer scientific claim and a practical deployment story.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534938" y="1268730"/>
            <a:ext cx="3689702" cy="877824"/>
          </a:xfrm>
          <a:prstGeom prst="roundRect">
            <a:avLst>
              <a:gd fmla="val 9375" name="adj"/>
            </a:avLst>
          </a:prstGeom>
          <a:solidFill>
            <a:srgbClr val="131A2A"/>
          </a:solidFill>
          <a:ln cap="flat" cmpd="sng" w="12700">
            <a:solidFill>
              <a:srgbClr val="3DE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9"/>
          <p:cNvSpPr/>
          <p:nvPr/>
        </p:nvSpPr>
        <p:spPr>
          <a:xfrm>
            <a:off x="726967" y="1488186"/>
            <a:ext cx="329193" cy="329184"/>
          </a:xfrm>
          <a:prstGeom prst="ellipse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9"/>
          <p:cNvSpPr/>
          <p:nvPr/>
        </p:nvSpPr>
        <p:spPr>
          <a:xfrm>
            <a:off x="726967" y="1567053"/>
            <a:ext cx="32919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F1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B0F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9"/>
          <p:cNvSpPr/>
          <p:nvPr/>
        </p:nvSpPr>
        <p:spPr>
          <a:xfrm>
            <a:off x="1165891" y="1440180"/>
            <a:ext cx="2606109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Report strong baselines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9"/>
          <p:cNvSpPr/>
          <p:nvPr/>
        </p:nvSpPr>
        <p:spPr>
          <a:xfrm>
            <a:off x="1165891" y="1693926"/>
            <a:ext cx="270898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Classical TF-IDF methods are too strong to ignore, especially for binary detection.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9"/>
          <p:cNvSpPr/>
          <p:nvPr/>
        </p:nvSpPr>
        <p:spPr>
          <a:xfrm>
            <a:off x="4649848" y="1268730"/>
            <a:ext cx="3689702" cy="877824"/>
          </a:xfrm>
          <a:prstGeom prst="roundRect">
            <a:avLst>
              <a:gd fmla="val 9375" name="adj"/>
            </a:avLst>
          </a:prstGeom>
          <a:solidFill>
            <a:srgbClr val="131A2A"/>
          </a:solidFill>
          <a:ln cap="flat" cmpd="sng" w="12700">
            <a:solidFill>
              <a:srgbClr val="FF3B47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9"/>
          <p:cNvSpPr/>
          <p:nvPr/>
        </p:nvSpPr>
        <p:spPr>
          <a:xfrm>
            <a:off x="4841877" y="1488186"/>
            <a:ext cx="329193" cy="329184"/>
          </a:xfrm>
          <a:prstGeom prst="ellipse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9"/>
          <p:cNvSpPr/>
          <p:nvPr/>
        </p:nvSpPr>
        <p:spPr>
          <a:xfrm>
            <a:off x="4841877" y="1567053"/>
            <a:ext cx="32919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5280801" y="1440180"/>
            <a:ext cx="2606109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Label quality changed the endpoint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5280801" y="1693926"/>
            <a:ext cx="270898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Weak labels were useful engineering scaffolding, but not enough for final scientific claims.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534938" y="2503170"/>
            <a:ext cx="3689702" cy="877824"/>
          </a:xfrm>
          <a:prstGeom prst="roundRect">
            <a:avLst>
              <a:gd fmla="val 9375" name="adj"/>
            </a:avLst>
          </a:prstGeom>
          <a:solidFill>
            <a:srgbClr val="131A2A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9"/>
          <p:cNvSpPr/>
          <p:nvPr/>
        </p:nvSpPr>
        <p:spPr>
          <a:xfrm>
            <a:off x="726967" y="2722626"/>
            <a:ext cx="329193" cy="329184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9"/>
          <p:cNvSpPr/>
          <p:nvPr/>
        </p:nvSpPr>
        <p:spPr>
          <a:xfrm>
            <a:off x="726967" y="2801493"/>
            <a:ext cx="32919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1165891" y="2674620"/>
            <a:ext cx="2606109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BERT is the consistent winner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1165891" y="2928366"/>
            <a:ext cx="270898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It improves aggregate metrics and every class-wise F1 score.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4649848" y="2503170"/>
            <a:ext cx="3689702" cy="877824"/>
          </a:xfrm>
          <a:prstGeom prst="roundRect">
            <a:avLst>
              <a:gd fmla="val 9375" name="adj"/>
            </a:avLst>
          </a:prstGeom>
          <a:solidFill>
            <a:srgbClr val="131A2A"/>
          </a:solidFill>
          <a:ln cap="flat" cmpd="sng" w="12700">
            <a:solidFill>
              <a:srgbClr val="B388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9"/>
          <p:cNvSpPr/>
          <p:nvPr/>
        </p:nvSpPr>
        <p:spPr>
          <a:xfrm>
            <a:off x="4841877" y="2722626"/>
            <a:ext cx="329193" cy="329184"/>
          </a:xfrm>
          <a:prstGeom prst="ellipse">
            <a:avLst/>
          </a:prstGeom>
          <a:solidFill>
            <a:srgbClr val="B388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9"/>
          <p:cNvSpPr/>
          <p:nvPr/>
        </p:nvSpPr>
        <p:spPr>
          <a:xfrm>
            <a:off x="4841877" y="2801493"/>
            <a:ext cx="32919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5280801" y="2674620"/>
            <a:ext cx="2606109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hardest errors are semantic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5280801" y="2928366"/>
            <a:ext cx="270898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Trolling, Derogatory, and Hate Speech boundaries remain the main pain point.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534938" y="3991356"/>
            <a:ext cx="7804612" cy="562356"/>
          </a:xfrm>
          <a:prstGeom prst="roundRect">
            <a:avLst>
              <a:gd fmla="val 14634" name="adj"/>
            </a:avLst>
          </a:prstGeom>
          <a:solidFill>
            <a:srgbClr val="0F172A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9"/>
          <p:cNvSpPr/>
          <p:nvPr/>
        </p:nvSpPr>
        <p:spPr>
          <a:xfrm>
            <a:off x="720109" y="4169664"/>
            <a:ext cx="9258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6D6A0"/>
                </a:solidFill>
                <a:latin typeface="Arial"/>
                <a:ea typeface="Arial"/>
                <a:cs typeface="Arial"/>
                <a:sym typeface="Arial"/>
              </a:rPr>
              <a:t>Best next steps: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1645964" y="4169664"/>
            <a:ext cx="6069492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grouped splits by author/source · richer context beyond one post · sharper annotation guidance for borderline categories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8" name="Google Shape;6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0"/>
          <p:cNvSpPr/>
          <p:nvPr/>
        </p:nvSpPr>
        <p:spPr>
          <a:xfrm>
            <a:off x="0" y="0"/>
            <a:ext cx="9144015" cy="34290"/>
          </a:xfrm>
          <a:prstGeom prst="rect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0" name="Google Shape;640;p30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12700">
            <a:solidFill>
              <a:srgbClr val="2A35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p30"/>
          <p:cNvSpPr/>
          <p:nvPr/>
        </p:nvSpPr>
        <p:spPr>
          <a:xfrm>
            <a:off x="377200" y="4869180"/>
            <a:ext cx="52122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Ragebait Detection  •  CS4375 Final Project  •  Group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8339550" y="4869180"/>
            <a:ext cx="42520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0"/>
          <p:cNvSpPr/>
          <p:nvPr/>
        </p:nvSpPr>
        <p:spPr>
          <a:xfrm>
            <a:off x="445782" y="288036"/>
            <a:ext cx="34290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EBFF"/>
                </a:solidFill>
                <a:latin typeface="Arial"/>
                <a:ea typeface="Arial"/>
                <a:cs typeface="Arial"/>
                <a:sym typeface="Arial"/>
              </a:rPr>
              <a:t>RAGEBAIT DETECTION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0"/>
          <p:cNvSpPr/>
          <p:nvPr/>
        </p:nvSpPr>
        <p:spPr>
          <a:xfrm>
            <a:off x="425207" y="589788"/>
            <a:ext cx="37720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i="0" lang="en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References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0"/>
          <p:cNvSpPr/>
          <p:nvPr/>
        </p:nvSpPr>
        <p:spPr>
          <a:xfrm>
            <a:off x="582946" y="1303020"/>
            <a:ext cx="7989783" cy="2674620"/>
          </a:xfrm>
          <a:prstGeom prst="roundRect">
            <a:avLst>
              <a:gd fmla="val 3077" name="adj"/>
            </a:avLst>
          </a:prstGeom>
          <a:solidFill>
            <a:srgbClr val="131A2A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809266" y="1577340"/>
            <a:ext cx="123447" cy="123444"/>
          </a:xfrm>
          <a:prstGeom prst="ellipse">
            <a:avLst/>
          </a:prstGeom>
          <a:solidFill>
            <a:srgbClr val="3DEB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0"/>
          <p:cNvSpPr/>
          <p:nvPr/>
        </p:nvSpPr>
        <p:spPr>
          <a:xfrm>
            <a:off x="1063018" y="1536192"/>
            <a:ext cx="66524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Trawling for Trolling: A Dataset. arXiv:2008.00525.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809266" y="2057400"/>
            <a:ext cx="123447" cy="123444"/>
          </a:xfrm>
          <a:prstGeom prst="ellipse">
            <a:avLst/>
          </a:prstGeom>
          <a:solidFill>
            <a:srgbClr val="FF3B4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1063018" y="2016252"/>
            <a:ext cx="66524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Devlin, Chang, Lee, and Toutanova. BERT: Pre-training of Deep Bidirectional Transformers for Language Understanding. NAACL-HLT, 2019.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809266" y="2537460"/>
            <a:ext cx="123447" cy="123444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0"/>
          <p:cNvSpPr/>
          <p:nvPr/>
        </p:nvSpPr>
        <p:spPr>
          <a:xfrm>
            <a:off x="1063018" y="2496312"/>
            <a:ext cx="66524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Pedregosa et al. Scikit-learn: Machine Learning in Python. JMLR, 2011.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809266" y="3017520"/>
            <a:ext cx="123447" cy="123444"/>
          </a:xfrm>
          <a:prstGeom prst="ellipse">
            <a:avLst/>
          </a:prstGeom>
          <a:solidFill>
            <a:srgbClr val="B388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0"/>
          <p:cNvSpPr/>
          <p:nvPr/>
        </p:nvSpPr>
        <p:spPr>
          <a:xfrm>
            <a:off x="1063018" y="2976372"/>
            <a:ext cx="66524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Project repository: github.com/giuseppegaliazzitx-bit/ML-Project-Ragebait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582946" y="4231386"/>
            <a:ext cx="7989783" cy="377190"/>
          </a:xfrm>
          <a:prstGeom prst="roundRect">
            <a:avLst>
              <a:gd fmla="val 21818" name="adj"/>
            </a:avLst>
          </a:prstGeom>
          <a:solidFill>
            <a:srgbClr val="0F172A"/>
          </a:solidFill>
          <a:ln cap="flat" cmpd="sng" w="12700">
            <a:solidFill>
              <a:srgbClr val="3DEB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0"/>
          <p:cNvSpPr/>
          <p:nvPr/>
        </p:nvSpPr>
        <p:spPr>
          <a:xfrm>
            <a:off x="706393" y="4258818"/>
            <a:ext cx="26061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EBFF"/>
              </a:buClr>
              <a:buSzPts val="2000"/>
              <a:buFont typeface="Georgia"/>
              <a:buNone/>
            </a:pPr>
            <a:r>
              <a:rPr b="1" i="0" lang="en" sz="2000" u="none" cap="none" strike="noStrike">
                <a:solidFill>
                  <a:srgbClr val="3DEBFF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939571" y="4389120"/>
            <a:ext cx="7454845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Backup detail slides can be added from the full markdown tables if the presentation needs a longer Q&amp;A appendix.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