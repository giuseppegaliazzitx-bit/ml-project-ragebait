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960120"/>
            <a:ext cx="8046720" cy="67665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3100" b="1">
                <a:solidFill>
                  <a:srgbClr val="1C2A42"/>
                </a:solidFill>
                <a:latin typeface="Aptos"/>
              </a:rPr>
              <a:t>Machine Learning Ragebait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719072"/>
            <a:ext cx="7772400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1400" b="0">
                <a:solidFill>
                  <a:srgbClr val="5F6878"/>
                </a:solidFill>
                <a:latin typeface="Aptos"/>
              </a:rPr>
              <a:t>A supervised NLP system for detecting abusive and rage-inducing social-media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57984"/>
            <a:ext cx="80467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1050" b="0">
                <a:solidFill>
                  <a:srgbClr val="5F6878"/>
                </a:solidFill>
                <a:latin typeface="Aptos"/>
              </a:rPr>
              <a:t>Group 8 - Edison Cheah, Giuseppe Galiazzi, Lawson Herger, Andrew 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063240"/>
            <a:ext cx="2468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3063240"/>
            <a:ext cx="73152" cy="1078992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91256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BINARY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217627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0.9229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BERT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063240"/>
            <a:ext cx="2468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3063240"/>
            <a:ext cx="73152" cy="1078992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3191256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MULTICLASS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447288"/>
            <a:ext cx="217627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0.6405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813048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BERT macro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3063240"/>
            <a:ext cx="24688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3063240"/>
            <a:ext cx="73152" cy="1078992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3" y="3191256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GOLD-LABEL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3447288"/>
            <a:ext cx="217627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12,490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3813048"/>
            <a:ext cx="21762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human-labeled 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45152"/>
            <a:ext cx="8412480" cy="73152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Final benchmark uses human labels, frozen splits, and a three-tier model ladder.</a:t>
            </a:r>
          </a:p>
          <a:p>
            <a:pPr>
              <a:spcAft>
                <a:spcPts val="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The central finding is methodological: weak-label agreement was not enough; gold-label evaluation changed the scientific 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Why this task is more than ordinary toxicity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166360" cy="242316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41820"/>
                </a:solidFill>
                <a:latin typeface="Aptos"/>
              </a:defRPr>
            </a:pPr>
            <a:r>
              <a:t>Short social-media posts compress sarcasm, abuse, provocation, threats, and ordinary profanity into very little context.</a:t>
            </a:r>
          </a:p>
          <a:p>
            <a:pPr>
              <a:spcAft>
                <a:spcPts val="0"/>
              </a:spcAft>
              <a:defRPr sz="1600">
                <a:solidFill>
                  <a:srgbClr val="141820"/>
                </a:solidFill>
                <a:latin typeface="Aptos"/>
              </a:defRPr>
            </a:pPr>
            <a:r>
              <a:t>A model must separate surface offensiveness from intent: trolling, derogation, hate speech, and normal speech can share vocabulary.</a:t>
            </a:r>
          </a:p>
          <a:p>
            <a:pPr>
              <a:spcAft>
                <a:spcPts val="0"/>
              </a:spcAft>
              <a:defRPr sz="1600">
                <a:solidFill>
                  <a:srgbClr val="141820"/>
                </a:solidFill>
                <a:latin typeface="Aptos"/>
              </a:defRPr>
            </a:pPr>
            <a:r>
              <a:t>The practical objective is reliable classification of rage-inducing or abusive language without treating every controversial post as ragebait.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17320"/>
          <a:ext cx="49834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052"/>
                <a:gridCol w="3189427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FFFFFF"/>
                          </a:solidFill>
                          <a:latin typeface="Aptos"/>
                        </a:rPr>
                        <a:t>Boundary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ptos"/>
                        </a:rPr>
                        <a:t>Why it is difficult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Profanity vs. Hate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Explicit words can mask stronger harm or threat intent.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Trolling vs. Derogatory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Taunting style overlaps with direct personal insult.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Normal vs. Trolling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41820"/>
                          </a:solidFill>
                          <a:latin typeface="Aptos"/>
                        </a:rPr>
                        <a:t>Controversy and sarcasm are not automatically abuse.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3977639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977639"/>
            <a:ext cx="73152" cy="1024128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4105655"/>
            <a:ext cx="46908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HARDER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4361688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5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4727448"/>
            <a:ext cx="469087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Normal, Profanity, Trolling, Derogatory, Hate Speech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Project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The project intentionally preserves both the first attempt and the final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9847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772"/>
                <a:gridCol w="1711756"/>
                <a:gridCol w="3851452"/>
                <a:gridCol w="3530498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Phase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Supervision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Key output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Main lesson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41820"/>
                          </a:solidFill>
                          <a:latin typeface="Aptos"/>
                        </a:rPr>
                        <a:t>Iteration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LLM weak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507,682 labeled posts; balanced 32k training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Scores measured agreement with Qwen, not human judgment.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41820"/>
                          </a:solidFill>
                          <a:latin typeface="Aptos"/>
                        </a:rPr>
                        <a:t>Iteration 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Human labels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12,490-row gold-label benchmark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Final claims are grounded in held-out human annotation.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246120"/>
            <a:ext cx="9829800" cy="132588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weak-label pipeline was valuable engineering practice: import, label, filter, balance, train, and evaluate.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scientific pivot was necessary because high performance against model-generated labels does not prove real validity.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final deck therefore emphasizes Iteration 2 while using Iteration 1 as motivation.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892040"/>
            <a:ext cx="3108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4892040"/>
            <a:ext cx="73152" cy="1024128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5020055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ARCHIVED WEAK-LABEL 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5276088"/>
            <a:ext cx="281635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0.8735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5641848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macro F1 against LLM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4892040"/>
            <a:ext cx="3108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4892040"/>
            <a:ext cx="73152" cy="1024128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5020055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GOLD-LABEL BERT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5276088"/>
            <a:ext cx="281635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0.9229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641848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binary F1 against human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1816" y="4892040"/>
            <a:ext cx="3108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71816" y="4892040"/>
            <a:ext cx="73152" cy="1024128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5020055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MULTICLASS BERT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5276088"/>
            <a:ext cx="281635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0.6405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5641848"/>
            <a:ext cx="28163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macro F1 on 5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Final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Human-labeled abusive-language corpus used for all final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325880"/>
          <a:ext cx="416051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49"/>
                <a:gridCol w="1040130"/>
                <a:gridCol w="112334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Label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5,053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40.46%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Profanity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1,582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12.67%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Trolling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36.32%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Derogatory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862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6.90%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Hate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32120" y="1417320"/>
            <a:ext cx="5257800" cy="14630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Binary task maps Normal to 0 and every abusive category to 1.</a:t>
            </a:r>
          </a:p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Multiclass task keeps all five labels: Normal, Profanity, Trolling, Derogatory, Hate Speech.</a:t>
            </a:r>
          </a:p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Class imbalance is substantial, especially for Hate Speech and Derogatory.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338328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3383280"/>
            <a:ext cx="73152" cy="1005840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6712" y="3511296"/>
            <a:ext cx="226771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BINARY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6712" y="3767328"/>
            <a:ext cx="226771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59.54%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4133088"/>
            <a:ext cx="226771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ragebait / abusive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38328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3383280"/>
            <a:ext cx="73152" cy="1005840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3511296"/>
            <a:ext cx="226771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MINORITY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3767328"/>
            <a:ext cx="226771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3.65%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4133088"/>
            <a:ext cx="226771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Hate Speech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51960"/>
            <a:ext cx="5120640" cy="274320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Dataset source: trolldata.csv, used as the final gold-label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Frozen Splits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Same train, validation, and test rows across all final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530351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985"/>
                <a:gridCol w="1166774"/>
                <a:gridCol w="1325880"/>
                <a:gridCol w="1325880"/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Ragebait / abusive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820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9,992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5,950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820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1,249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506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743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820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1,249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03320"/>
          <a:ext cx="10607037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267"/>
                <a:gridCol w="1697126"/>
                <a:gridCol w="1697126"/>
                <a:gridCol w="1697126"/>
                <a:gridCol w="1803196"/>
                <a:gridCol w="1803196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Profanity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Trolling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Derogatory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Hate Speech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1,265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506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158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454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86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417320"/>
            <a:ext cx="4663440" cy="164592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370">
                <a:solidFill>
                  <a:srgbClr val="141820"/>
                </a:solidFill>
                <a:latin typeface="Aptos"/>
              </a:defRPr>
            </a:pPr>
            <a:r>
              <a:t>Split policy: stratified 80/10/10 with seed 42.</a:t>
            </a:r>
          </a:p>
          <a:p>
            <a:pPr>
              <a:spcAft>
                <a:spcPts val="0"/>
              </a:spcAft>
              <a:defRPr sz="1370">
                <a:solidFill>
                  <a:srgbClr val="141820"/>
                </a:solidFill>
                <a:latin typeface="Aptos"/>
              </a:defRPr>
            </a:pPr>
            <a:r>
              <a:t>Model selection used validation performance; final claims use held-out test results.</a:t>
            </a:r>
          </a:p>
          <a:p>
            <a:pPr>
              <a:spcAft>
                <a:spcPts val="0"/>
              </a:spcAft>
              <a:defRPr sz="1370">
                <a:solidFill>
                  <a:srgbClr val="141820"/>
                </a:solidFill>
                <a:latin typeface="Aptos"/>
              </a:defRPr>
            </a:pPr>
            <a:r>
              <a:t>Freezing the split prevents accidental improvements from split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Modeling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Three tiers test whether richer representations improve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563"/>
                <a:gridCol w="2969971"/>
                <a:gridCol w="3394252"/>
                <a:gridCol w="339425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Tier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 family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Representation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Logistic Regression, Linear SVC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TF-IDF unigrams and bigrams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Strong lexical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PyTorch FFNN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Train-only embeddings with mean pooling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Compact neural baseline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bert-base-uncased contextual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Fine-grained intent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611880"/>
            <a:ext cx="4754880" cy="12344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TF-IDF establishes whether labels are mostly lexical.</a:t>
            </a:r>
          </a:p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FFNN tests whether learned dense interactions help beyond linear baselines.</a:t>
            </a:r>
          </a:p>
          <a:p>
            <a:pPr>
              <a:spcAft>
                <a:spcPts val="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BERT tests whether context helps separate overlapping abuse categories.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520440"/>
          <a:ext cx="438911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1272844"/>
                <a:gridCol w="1272844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BERT setting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Multiclass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Max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Selection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Validation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Validation 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Final workspace is reproducible and artifact-driven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166360" cy="233172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iteration2/src/data creates label maps and canonical splits.</a:t>
            </a:r>
          </a:p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iteration2/src/training runs TF-IDF baselines, FFNN, and BERT.</a:t>
            </a:r>
          </a:p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iteration2/src/evaluation saves metrics, confusion matrices, and hard-error CSV files.</a:t>
            </a:r>
          </a:p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Outputs include summaries, tokenizer snapshots, checkpoints, training histories, and split manifests.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800600" cy="1965960"/>
          </a:xfrm>
          <a:prstGeom prst="roundRect">
            <a:avLst/>
          </a:prstGeom>
          <a:solidFill>
            <a:srgbClr val="F2F4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27632"/>
            <a:ext cx="4434840" cy="1417320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19" b="0">
                <a:solidFill>
                  <a:srgbClr val="1C2A42"/>
                </a:solidFill>
                <a:latin typeface="Courier New"/>
              </a:rPr>
              <a:t>weight_i = N / (K * count_i)
embeddings = self.embedding(input_ids)
mask = (input_ids != self.pad_index).unsqueeze(-1)
pooled = (embeddings * mask).sum(dim=1) / mask.sum(dim=1).clamp(min=1)
logits = self.classifier(pooled)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1150" b="0">
                <a:solidFill>
                  <a:srgbClr val="5F6878"/>
                </a:solidFill>
                <a:latin typeface="Aptos"/>
              </a:rPr>
              <a:t>Two implementation details: exact class weights for imbalance and a simple mean-pooled FFNN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Iteration 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A useful pipeline, but an insufficient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5275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717"/>
                <a:gridCol w="1491386"/>
                <a:gridCol w="1491386"/>
                <a:gridCol w="1491386"/>
                <a:gridCol w="3408883"/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Model / run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Positive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Macro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1820"/>
                          </a:solidFill>
                          <a:latin typeface="Aptos"/>
                        </a:rPr>
                        <a:t>Initial 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0.4055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0.5770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0.2885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Collapsed toward positive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1820"/>
                          </a:solidFill>
                          <a:latin typeface="Aptos"/>
                        </a:rPr>
                        <a:t>Raw-text Linear SVC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0.8744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0.8484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0.8706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Strongest exact-split classical baseline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1820"/>
                          </a:solidFill>
                          <a:latin typeface="Aptos"/>
                        </a:rPr>
                        <a:t>Tuned 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0.8735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820"/>
                          </a:solidFill>
                          <a:latin typeface="Aptos"/>
                        </a:rPr>
                        <a:t>Best archived weak-label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429000"/>
            <a:ext cx="5669280" cy="12344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tuned BERT barely exceeded the strongest classical baseline.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More importantly, the evaluation target was still model-generated labels.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This became the reason to pivot to a human-labeled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429000"/>
            <a:ext cx="3566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3429000"/>
            <a:ext cx="73152" cy="1005840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3557016"/>
            <a:ext cx="32735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WEAK-LABELED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3813048"/>
            <a:ext cx="327355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507,682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4178808"/>
            <a:ext cx="32735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LLM-labeled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617720"/>
            <a:ext cx="3566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617720"/>
            <a:ext cx="73152" cy="100584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4745736"/>
            <a:ext cx="32735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HIGH-CONFIDENCE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5001768"/>
            <a:ext cx="327355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102,104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5367528"/>
            <a:ext cx="327355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confidence &gt;= 0.95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Experiment 1: Binary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Held-out test results for Normal vs. ragebait / abusive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704088"/>
                <a:gridCol w="896112"/>
                <a:gridCol w="896112"/>
                <a:gridCol w="832104"/>
                <a:gridCol w="89611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Tier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41820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41820"/>
                          </a:solidFill>
                          <a:latin typeface="Aptos"/>
                        </a:rPr>
                        <a:t>Linear SVC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0.8655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0.8780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0.8992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0.8884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41820"/>
                          </a:solidFill>
                          <a:latin typeface="Aptos"/>
                        </a:rPr>
                        <a:t>FFNN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0.8906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41820"/>
                          </a:solidFill>
                          <a:latin typeface="Aptos"/>
                        </a:rPr>
                        <a:t>BERT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0.9079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0.9210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0.9247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0.9229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417320"/>
            <a:ext cx="3063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417320"/>
            <a:ext cx="73152" cy="100584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545336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BEST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801368"/>
            <a:ext cx="27706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167128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Tier 3 contextual encoder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51760"/>
            <a:ext cx="3063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651760"/>
            <a:ext cx="73152" cy="100584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2779776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F1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035808"/>
            <a:ext cx="27706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+0.0322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3401568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over FFNN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77639"/>
            <a:ext cx="9875520" cy="12344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binary task is already strong for lexical models, so BERT's gain is meaningful rather than automatic.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FFNN only marginally improves over Linear SVC, suggesting the coarse boundary is mostly lexical.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BERT still gives the best balance of precision and recall on held-out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Binary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BERT reduces both false positives and false negatives on the final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ber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4983480" cy="39867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00200"/>
            <a:ext cx="4389120" cy="182880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BERT held-out test: 0.9079 accuracy and 0.9229 F1.</a:t>
            </a:r>
          </a:p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False negatives remain important because abusive posts missed by the classifier carry moderation risk.</a:t>
            </a:r>
          </a:p>
          <a:p>
            <a:pPr>
              <a:spcAft>
                <a:spcPts val="0"/>
              </a:spcAft>
              <a:defRPr sz="1420">
                <a:solidFill>
                  <a:srgbClr val="141820"/>
                </a:solidFill>
                <a:latin typeface="Aptos"/>
              </a:defRPr>
            </a:pPr>
            <a:r>
              <a:t>False positives matter because controversial but non-abusive text should not be over-flagged.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6908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069080"/>
            <a:ext cx="73152" cy="9601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197096"/>
            <a:ext cx="18562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453128"/>
            <a:ext cx="18562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0.9210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818888"/>
            <a:ext cx="18562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positive predictions usually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06908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4069080"/>
            <a:ext cx="73152" cy="960120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4197096"/>
            <a:ext cx="18562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4453128"/>
            <a:ext cx="18562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0.9247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4818888"/>
            <a:ext cx="18562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most abusive posts found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Experiment 2: Five-Class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Held-out test results for the full label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59893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728"/>
                <a:gridCol w="718718"/>
                <a:gridCol w="958291"/>
                <a:gridCol w="958291"/>
                <a:gridCol w="958291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Tier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Micro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Macro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0.5524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Linear SVC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0.6797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0.6797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0.5403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FFNN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0.5101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41820"/>
                          </a:solidFill>
                          <a:latin typeface="Aptos"/>
                        </a:rPr>
                        <a:t>BERT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0.7390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0.7390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60" b="0">
                          <a:solidFill>
                            <a:srgbClr val="141820"/>
                          </a:solidFill>
                          <a:latin typeface="Aptos"/>
                        </a:rPr>
                        <a:t>0.6405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bert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34440"/>
            <a:ext cx="3611880" cy="30562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3886200"/>
            <a:ext cx="5943600" cy="12344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five-class task exposes category-boundary ambiguity that binary detection hides.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BERT improves test macro F1 by 0.0881 over the best held-out baseline.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remaining errors concentrate around Trolling, Derogatory, and Hate Speech.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Class-wise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BERT improves every class against the best non-transformer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17320"/>
            <a:ext cx="5925312" cy="3154680"/>
          </a:xfrm>
          <a:prstGeom prst="rect">
            <a:avLst/>
          </a:prstGeom>
          <a:noFill/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04306" y="1844032"/>
            <a:ext cx="308116" cy="2727968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4306" y="1661152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9368" y="2543707"/>
            <a:ext cx="308116" cy="2028293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368" y="2360826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74431" y="2512493"/>
            <a:ext cx="308116" cy="2059507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4431" y="2329613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9493" y="3443621"/>
            <a:ext cx="308116" cy="1128379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9493" y="3260740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555" y="3344664"/>
            <a:ext cx="308116" cy="1227336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555" y="3161784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8639" y="1659069"/>
            <a:ext cx="308116" cy="2912931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8639" y="1476189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3702" y="2131606"/>
            <a:ext cx="308116" cy="2440394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3702" y="1948725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8764" y="2296314"/>
            <a:ext cx="308116" cy="2275686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28764" y="2113434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13827" y="3116199"/>
            <a:ext cx="308116" cy="1455801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3827" y="2933318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8889" y="3022222"/>
            <a:ext cx="308116" cy="1549778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8889" y="2839342"/>
            <a:ext cx="47270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5F6878"/>
                </a:solidFill>
                <a:latin typeface="Aptos"/>
              </a:rPr>
              <a:t>0.47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402" y="4690872"/>
            <a:ext cx="1090257" cy="31089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5F6878"/>
                </a:solidFill>
                <a:latin typeface="Aptos"/>
              </a:rPr>
              <a:t>Normal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5464" y="4690872"/>
            <a:ext cx="1090257" cy="31089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5F6878"/>
                </a:solidFill>
                <a:latin typeface="Aptos"/>
              </a:rPr>
              <a:t>Profanity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0527" y="4690872"/>
            <a:ext cx="1090257" cy="31089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5F6878"/>
                </a:solidFill>
                <a:latin typeface="Aptos"/>
              </a:rPr>
              <a:t>Trolling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589" y="4690872"/>
            <a:ext cx="1090257" cy="31089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5F6878"/>
                </a:solidFill>
                <a:latin typeface="Aptos"/>
              </a:rPr>
              <a:t>Derog.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0652" y="4690872"/>
            <a:ext cx="1090257" cy="31089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5F6878"/>
                </a:solidFill>
                <a:latin typeface="Aptos"/>
              </a:rPr>
              <a:t>Hate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2144" y="5020056"/>
            <a:ext cx="109728" cy="109728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07592" y="4974336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Logistic Regression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06624" y="5020056"/>
            <a:ext cx="109728" cy="109728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4974336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BERT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452360" y="1417320"/>
          <a:ext cx="397763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50"/>
                <a:gridCol w="835304"/>
                <a:gridCol w="835304"/>
                <a:gridCol w="87508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LogReg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BERT F1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Gain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0.8215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0.8772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+0.0557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Profanity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0.6108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0.7349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+0.1241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Trolling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0.6202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0.6853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+0.0651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Derogatory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0.3398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0.4384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+0.0986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Hate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0.3696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0.4667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+0.0971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7516368" y="4069080"/>
            <a:ext cx="3611880" cy="59436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220">
                <a:solidFill>
                  <a:srgbClr val="5F6878"/>
                </a:solidFill>
                <a:latin typeface="Aptos"/>
              </a:defRPr>
            </a:pPr>
            <a:r>
              <a:t>Largest gains appear where surface vocabulary alone is least reliable: Profanity, Derogatory, and Hate Speech.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The hardest failures are semantic and boundary-driven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484631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350"/>
                <a:gridCol w="1356969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Confusion pair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Symmetric errors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41820"/>
                          </a:solidFill>
                          <a:latin typeface="Aptos"/>
                        </a:rPr>
                        <a:t>Derogatory &lt;-&gt; Trolling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41820"/>
                          </a:solidFill>
                          <a:latin typeface="Aptos"/>
                        </a:rPr>
                        <a:t>Normal &lt;-&gt; Trolling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85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41820"/>
                          </a:solidFill>
                          <a:latin typeface="Aptos"/>
                        </a:rPr>
                        <a:t>Profanity &lt;-&gt; Trolling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41820"/>
                          </a:solidFill>
                          <a:latin typeface="Aptos"/>
                        </a:rPr>
                        <a:t>Normal &lt;-&gt; Profanity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41820"/>
                          </a:solidFill>
                          <a:latin typeface="Aptos"/>
                        </a:rPr>
                        <a:t>Derogatory &lt;-&gt; Hate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9" b="0">
                          <a:solidFill>
                            <a:srgbClr val="141820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325880"/>
            <a:ext cx="4937760" cy="196596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340">
                <a:solidFill>
                  <a:srgbClr val="141820"/>
                </a:solidFill>
                <a:latin typeface="Aptos"/>
              </a:defRPr>
            </a:pPr>
            <a:r>
              <a:t>Profanity can hide more severe hostile intent.</a:t>
            </a:r>
          </a:p>
          <a:p>
            <a:pPr>
              <a:spcAft>
                <a:spcPts val="0"/>
              </a:spcAft>
              <a:defRPr sz="1340">
                <a:solidFill>
                  <a:srgbClr val="141820"/>
                </a:solidFill>
                <a:latin typeface="Aptos"/>
              </a:defRPr>
            </a:pPr>
            <a:r>
              <a:t>Trolling and derogatory abuse often share direct insult vocabulary.</a:t>
            </a:r>
          </a:p>
          <a:p>
            <a:pPr>
              <a:spcAft>
                <a:spcPts val="0"/>
              </a:spcAft>
              <a:defRPr sz="1340">
                <a:solidFill>
                  <a:srgbClr val="141820"/>
                </a:solidFill>
                <a:latin typeface="Aptos"/>
              </a:defRPr>
            </a:pPr>
            <a:r>
              <a:t>Long rants mix sarcasm, complaint, threat, and provocation in one post.</a:t>
            </a:r>
          </a:p>
          <a:p>
            <a:pPr>
              <a:spcAft>
                <a:spcPts val="0"/>
              </a:spcAft>
              <a:defRPr sz="1340">
                <a:solidFill>
                  <a:srgbClr val="141820"/>
                </a:solidFill>
                <a:latin typeface="Aptos"/>
              </a:defRPr>
            </a:pPr>
            <a:r>
              <a:t>OOV rates do not explain the hard BERT errors: hard-error OOV is 7.61%, close to the full test OOV rate of 7.83%.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2971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069080"/>
            <a:ext cx="73152" cy="1005840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197096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TOP DIRECTIONAL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453128"/>
            <a:ext cx="267919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818888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Trolling predicted as Derogatory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069080"/>
            <a:ext cx="2971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4069080"/>
            <a:ext cx="73152" cy="100584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1" y="4197096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HARD-ERROR OOV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4453128"/>
            <a:ext cx="267919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7.61%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4818888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not a vocabulary-hole 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4069080"/>
            <a:ext cx="2971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4069080"/>
            <a:ext cx="73152" cy="100584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4197096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MAIN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4453128"/>
            <a:ext cx="267919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4818888"/>
            <a:ext cx="267919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not just lexical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Compute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Performance gains must be weighed against training and inference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52756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772"/>
                <a:gridCol w="1917496"/>
                <a:gridCol w="1917496"/>
                <a:gridCol w="1917496"/>
                <a:gridCol w="1917496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Binary train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Binary predict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Multiclass train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Multiclass predict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0.047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0.00039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16.314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0.00097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Linear SVC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0.032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0.00045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0.471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0.00146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FFNN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25.388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0.01973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87.860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0.1501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820"/>
                          </a:solidFill>
                          <a:latin typeface="Aptos"/>
                        </a:rPr>
                        <a:t>BERT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4893.595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64.869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376.786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41820"/>
                          </a:solidFill>
                          <a:latin typeface="Aptos"/>
                        </a:rPr>
                        <a:t>9.860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749039"/>
            <a:ext cx="9966960" cy="123444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TF-IDF models are effectively free and remain valuable baselines.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BERT is the only model with a serious compute cost, but GPU training makes the multiclass run practical.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Operationally, BERT is most justified when category distinction matters, not merely when coarse binary screening is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303520"/>
            <a:ext cx="2834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303520"/>
            <a:ext cx="73152" cy="777240"/>
          </a:xfrm>
          <a:prstGeom prst="rect">
            <a:avLst/>
          </a:prstGeom>
          <a:solidFill>
            <a:srgbClr val="B4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5431536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BINARY 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5687568"/>
            <a:ext cx="25420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81.6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053328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CPU training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303520"/>
            <a:ext cx="2834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5303520"/>
            <a:ext cx="73152" cy="77724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5431536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MULTICLASS BERT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5687568"/>
            <a:ext cx="25420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6.3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6053328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CUDA training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303520"/>
            <a:ext cx="2834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5303520"/>
            <a:ext cx="73152" cy="77724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5431536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PRACTICAL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5687568"/>
            <a:ext cx="25420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batch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6053328"/>
            <a:ext cx="25420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offline moderation scoring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Final results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105156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545336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BINARY 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801368"/>
            <a:ext cx="27706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0.9229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67128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held-out test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73152" cy="1051560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545336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FINAL MULTICLASS 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801368"/>
            <a:ext cx="27706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0.6405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167128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held-out test macro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41732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17320"/>
            <a:ext cx="73152" cy="105156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545336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80" b="1">
                <a:solidFill>
                  <a:srgbClr val="5F6878"/>
                </a:solidFill>
                <a:latin typeface="Aptos"/>
              </a:rPr>
              <a:t>BEST BASELINE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1801368"/>
            <a:ext cx="2770632" cy="31089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200" b="1">
                <a:solidFill>
                  <a:srgbClr val="1C2A42"/>
                </a:solidFill>
                <a:latin typeface="Aptos"/>
              </a:rPr>
              <a:t>+0.0881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167128"/>
            <a:ext cx="2770632" cy="201168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F6878"/>
                </a:solidFill>
                <a:latin typeface="Aptos"/>
              </a:rPr>
              <a:t>multiclass macro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63240"/>
            <a:ext cx="9784080" cy="178308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Classical lexical baselines are strong and should always be reported.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FFNN adds little on binary detection and underperforms the best linear model on multiclass macro F1.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BERT is the only model that consistently improves aggregate scores and class-wise robustness.</a:t>
            </a:r>
          </a:p>
          <a:p>
            <a:pPr>
              <a:spcAft>
                <a:spcPts val="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remaining research problem is better handling of overlapping abusive categories, not simply more parameters.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60120" y="5166360"/>
          <a:ext cx="996695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105"/>
                <a:gridCol w="6378854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Promising next step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>
                    <a:solidFill>
                      <a:srgbClr val="1C2A4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Grouped splits by author/source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Reduce leakage and test real generalization.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More context per post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Resolve sarcasm, threat, and reply-chain ambiguity.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Sharper annotation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1820"/>
                          </a:solidFill>
                          <a:latin typeface="Aptos"/>
                        </a:rPr>
                        <a:t>Clarify Trolling vs. Derogatory vs. Hate Speech.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8138160" cy="43891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7132320" cy="25603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950" b="0">
                <a:solidFill>
                  <a:srgbClr val="5F6878"/>
                </a:solidFill>
                <a:latin typeface="Aptos"/>
              </a:rPr>
              <a:t>Core sources used by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969264" cy="32004"/>
          </a:xfrm>
          <a:prstGeom prst="rect">
            <a:avLst/>
          </a:prstGeom>
          <a:solidFill>
            <a:srgbClr val="D6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108960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750" b="0">
                <a:solidFill>
                  <a:srgbClr val="5F6878"/>
                </a:solidFill>
                <a:latin typeface="Aptos"/>
              </a:rPr>
              <a:t>ML Ragebait Detection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29184" cy="164592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r"/>
            <a:r>
              <a:rPr sz="750" b="0">
                <a:solidFill>
                  <a:srgbClr val="5F6878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966960" cy="2103120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Trawling for Trolling: A Dataset. arXiv:2008.00525.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Devlin, Chang, Lee, and Toutanova. BERT: Pre-training of Deep Bidirectional Transformers for Language Understanding. NAACL-HLT, 2019.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Pedregosa et al. Scikit-learn: Machine Learning in Python. Journal of Machine Learning Research, 2011.</a:t>
            </a:r>
          </a:p>
          <a:p>
            <a:pPr>
              <a:spcAft>
                <a:spcPts val="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Project repository: github.com/giuseppegaliazzitx-bit/ML-Project-Ragebait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828800" cy="402336"/>
          </a:xfrm>
          <a:prstGeom prst="rect">
            <a:avLst/>
          </a:prstGeom>
          <a:noFill/>
        </p:spPr>
        <p:txBody>
          <a:bodyPr wrap="non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C2A42"/>
                </a:solidFill>
                <a:latin typeface="Aptos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Ragebait Detection Project</dc:title>
  <dc:subject>Final project presentation</dc:subject>
  <dc:creator>Group 8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