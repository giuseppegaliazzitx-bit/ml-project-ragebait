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D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9781" y="336593"/>
            <a:ext cx="1214438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8 FINAL PROJECT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181" y="455414"/>
            <a:ext cx="4093369" cy="20859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113"/>
              </a:lnSpc>
              <a:buNone/>
            </a:pPr>
            <a:r>
              <a:rPr lang="en-US" sz="447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Ragebait Detection</a:t>
            </a:r>
            <a:endParaRPr lang="en-US" sz="4470" dirty="0"/>
          </a:p>
        </p:txBody>
      </p:sp>
      <p:sp>
        <p:nvSpPr>
          <p:cNvPr id="5" name="Text 3"/>
          <p:cNvSpPr/>
          <p:nvPr/>
        </p:nvSpPr>
        <p:spPr>
          <a:xfrm>
            <a:off x="391176" y="2541612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supervised NLP system for identifying manufactured outrage and abusive social-media language.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2793429"/>
            <a:ext cx="2664619" cy="1857375"/>
          </a:xfrm>
          <a:prstGeom prst="roundRect">
            <a:avLst>
              <a:gd name="adj" fmla="val 6923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2935635"/>
            <a:ext cx="23788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0.9229</a:t>
            </a:r>
            <a:endParaRPr lang="en-US" sz="2480" dirty="0"/>
          </a:p>
        </p:txBody>
      </p:sp>
      <p:sp>
        <p:nvSpPr>
          <p:cNvPr id="8" name="Text 6"/>
          <p:cNvSpPr/>
          <p:nvPr/>
        </p:nvSpPr>
        <p:spPr>
          <a:xfrm>
            <a:off x="534023" y="3284674"/>
            <a:ext cx="23788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BERT F1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4023" y="3382231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performance for normal vs. ragebait / abusive content.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239663" y="2793429"/>
            <a:ext cx="2664619" cy="1857375"/>
          </a:xfrm>
          <a:prstGeom prst="roundRect">
            <a:avLst>
              <a:gd name="adj" fmla="val 6923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2538" y="2935635"/>
            <a:ext cx="23788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0.6405</a:t>
            </a:r>
            <a:endParaRPr lang="en-US" sz="2480" dirty="0"/>
          </a:p>
        </p:txBody>
      </p:sp>
      <p:sp>
        <p:nvSpPr>
          <p:cNvPr id="12" name="Text 10"/>
          <p:cNvSpPr/>
          <p:nvPr/>
        </p:nvSpPr>
        <p:spPr>
          <a:xfrm>
            <a:off x="3382538" y="3284674"/>
            <a:ext cx="23788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MULTICLASS MACRO F1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82538" y="3382231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Five-class BERT result across Normal, Profanity, Trolling, Derogatory, and Hate Speech.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088177" y="2793429"/>
            <a:ext cx="2664619" cy="1857375"/>
          </a:xfrm>
          <a:prstGeom prst="roundRect">
            <a:avLst>
              <a:gd name="adj" fmla="val 6923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052" y="2935635"/>
            <a:ext cx="23788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12,490</a:t>
            </a:r>
            <a:endParaRPr lang="en-US" sz="2480" dirty="0"/>
          </a:p>
        </p:txBody>
      </p:sp>
      <p:sp>
        <p:nvSpPr>
          <p:cNvPr id="16" name="Text 14"/>
          <p:cNvSpPr/>
          <p:nvPr/>
        </p:nvSpPr>
        <p:spPr>
          <a:xfrm>
            <a:off x="6231052" y="3284674"/>
            <a:ext cx="23788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HUMAN-LABELED POSTS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231052" y="3382231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Iteration 2 benchmark used as the authoritative evaluation target.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Edison Cheah, Giuseppe Galiazzi, Lawson Herger, Andrew Lin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CS4375</a:t>
            </a:r>
            <a:endParaRPr lang="en-US" sz="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FFD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785" y="336593"/>
            <a:ext cx="678656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5023"/>
            <a:ext cx="3393281" cy="3357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rage bait?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790612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intentionally crafted to provoke anger, frustration, or outrage from readers.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039248"/>
            <a:ext cx="4772025" cy="3614738"/>
          </a:xfrm>
          <a:prstGeom prst="roundRect">
            <a:avLst>
              <a:gd name="adj" fmla="val 3557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2571" y="1039248"/>
            <a:ext cx="3321844" cy="3614738"/>
          </a:xfrm>
          <a:prstGeom prst="roundRect">
            <a:avLst>
              <a:gd name="adj" fmla="val 3871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9018" y="1186644"/>
            <a:ext cx="3028950" cy="671513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challenge is intent: not every angry post is rage bait, and not every offensive word has the same social meaning.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520" dirty="0"/>
          </a:p>
        </p:txBody>
      </p:sp>
      <p:sp>
        <p:nvSpPr>
          <p:cNvPr id="10" name="Text 8"/>
          <p:cNvSpPr/>
          <p:nvPr/>
        </p:nvSpPr>
        <p:spPr>
          <a:xfrm>
            <a:off x="535781" y="1185751"/>
            <a:ext cx="44862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polarized, inflammatory, or bad-faith statements to guarantee a reaction.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values response volume over truth, nuance, or constructive discussion.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look similar to ordinary controversy, profanity, or genuine outrage.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018" y="1186644"/>
            <a:ext cx="3028950" cy="671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FFDF8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2767" y="336593"/>
            <a:ext cx="1621631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ENGAGEMENT ECONOMY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incentive problem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feeds often reward interaction volume, even when the interaction is anger.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1957" y="1380753"/>
            <a:ext cx="2028825" cy="250745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POST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Bad-faith or inflammatory content is published.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2502350" y="1380753"/>
            <a:ext cx="2028825" cy="250745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REACTION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reply, quote, argue, and amplify.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612770" y="1380753"/>
            <a:ext cx="2028825" cy="250745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RANKING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interpret activity as relevance.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6723190" y="1380753"/>
            <a:ext cx="2028825" cy="250745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REWARD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content gains visibility and the pattern repeats.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91148" y="3982529"/>
            <a:ext cx="2664619" cy="671513"/>
          </a:xfrm>
          <a:prstGeom prst="roundRect">
            <a:avLst>
              <a:gd name="adj" fmla="val 19149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023" y="4129646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incentives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34023" y="4272911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Engagement-based ranking can elevate polarizing content.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239663" y="3982529"/>
            <a:ext cx="2664619" cy="671513"/>
          </a:xfrm>
          <a:prstGeom prst="roundRect">
            <a:avLst>
              <a:gd name="adj" fmla="val 19149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2538" y="4129646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farming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382538" y="4275032"/>
            <a:ext cx="2378869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Manufactured negativity becomes a visibility strategy.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088177" y="3982529"/>
            <a:ext cx="2664619" cy="671513"/>
          </a:xfrm>
          <a:prstGeom prst="roundRect">
            <a:avLst>
              <a:gd name="adj" fmla="val 19149"/>
            </a:avLst>
          </a:prstGeom>
          <a:solidFill>
            <a:srgbClr val="F4F0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1052" y="4129646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cost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231052" y="4272911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Discourse quality drops and bad actors become more visible.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detection matters</a:t>
            </a:r>
            <a:endParaRPr lang="en-US" sz="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EFB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032" y="336593"/>
            <a:ext cx="785813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rage bait detector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ML-powered tool for classifying social-media posts before users feed the reaction loop.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1379693"/>
            <a:ext cx="2664619" cy="2800350"/>
          </a:xfrm>
          <a:prstGeom prst="roundRect">
            <a:avLst>
              <a:gd name="adj" fmla="val 4826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identification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34023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short posts and classify manufactured rage bait or abusive content.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39663" y="1379693"/>
            <a:ext cx="2664619" cy="2800350"/>
          </a:xfrm>
          <a:prstGeom prst="roundRect">
            <a:avLst>
              <a:gd name="adj" fmla="val 4826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2538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empowerment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382538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recognize engagement traps before replying, quoting, or sharing.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088177" y="1379693"/>
            <a:ext cx="2664619" cy="2800350"/>
          </a:xfrm>
          <a:prstGeom prst="roundRect">
            <a:avLst>
              <a:gd name="adj" fmla="val 4826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052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Healthier discourse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231052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Starve negative engagement farming by reducing reward for provocation.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92906" y="4274362"/>
            <a:ext cx="8358188" cy="378619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separate genuine conversation from manufactured outrage with a reproducible, human-grounded model benchmark.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goal</a:t>
            </a:r>
            <a:endParaRPr lang="en-US" sz="52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906" y="4274362"/>
            <a:ext cx="8358188" cy="378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D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9865" y="336593"/>
            <a:ext cx="735806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ARC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weak labels to gold labels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biggest scientific improvement was changing what counted as truth.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9530" y="1379860"/>
            <a:ext cx="3321844" cy="3271838"/>
          </a:xfrm>
          <a:prstGeom prst="roundRect">
            <a:avLst>
              <a:gd name="adj" fmla="val 3930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446" y="1521786"/>
            <a:ext cx="80010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39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450377" y="1524047"/>
            <a:ext cx="2114550" cy="40005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53"/>
              </a:lnSpc>
              <a:buNone/>
            </a:pPr>
            <a:r>
              <a:rPr lang="en-US" sz="81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complete weak-label pipeline with vLLM and Qwen labels over 507,682 posts.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35446" y="2019895"/>
            <a:ext cx="80010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39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450377" y="2022156"/>
            <a:ext cx="2114550" cy="40005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53"/>
              </a:lnSpc>
              <a:buNone/>
            </a:pPr>
            <a:r>
              <a:rPr lang="en-US" sz="81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scores still measured agreement with model-generated labels, not human judgment.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535446" y="2518004"/>
            <a:ext cx="80010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39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50377" y="2520265"/>
            <a:ext cx="2114550" cy="40005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53"/>
              </a:lnSpc>
              <a:buNone/>
            </a:pPr>
            <a:r>
              <a:rPr lang="en-US" sz="81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Pivoted to a 12,490-row human-labeled dataset and a frozen train/validation/test split.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979041" y="1379860"/>
            <a:ext cx="4772025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9041" y="1379860"/>
          <a:ext cx="4772025" cy="914400"/>
        </p:xfrm>
        <a:graphic>
          <a:graphicData uri="http://schemas.openxmlformats.org/drawingml/2006/table">
            <a:tbl>
              <a:tblPr/>
              <a:tblGrid>
                <a:gridCol w="1279401"/>
                <a:gridCol w="1309594"/>
                <a:gridCol w="218654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Phase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result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Interpretation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Weak-label 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0.8735 macro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Agreement with Qwen labels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Gold-label 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0.9229 binary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Agreement with human labels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Methodological pivot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labels vs. human labels</a:t>
            </a:r>
            <a:endParaRPr lang="en-US" sz="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FFD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539" y="336593"/>
            <a:ext cx="800100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DATASET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4019"/>
            <a:ext cx="3393281" cy="101441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Human-labeled abusive-language corpus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467259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benchmark contains five labels with substantial class imbalance.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716900"/>
            <a:ext cx="4772025" cy="2936081"/>
          </a:xfrm>
          <a:prstGeom prst="roundRect">
            <a:avLst>
              <a:gd name="adj" fmla="val 4380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6144" y="1862175"/>
            <a:ext cx="764381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373749" y="1862175"/>
            <a:ext cx="3107531" cy="100012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/>
        </p:spPr>
      </p:sp>
      <p:sp>
        <p:nvSpPr>
          <p:cNvPr id="9" name="Shape 7"/>
          <p:cNvSpPr/>
          <p:nvPr/>
        </p:nvSpPr>
        <p:spPr>
          <a:xfrm>
            <a:off x="1374781" y="1862175"/>
            <a:ext cx="1257300" cy="1000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52355" y="1862175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40.46%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36144" y="2025588"/>
            <a:ext cx="764381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Trolling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373749" y="2025588"/>
            <a:ext cx="3107531" cy="100012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4837" y="2025588"/>
            <a:ext cx="1128713" cy="1000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52355" y="2025588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36.32%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36144" y="2189001"/>
            <a:ext cx="764381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Profanity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373749" y="2189001"/>
            <a:ext cx="3107531" cy="100012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5674" y="2189001"/>
            <a:ext cx="392906" cy="1000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52355" y="2189001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12.67%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36144" y="2352415"/>
            <a:ext cx="764381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Derogatory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373749" y="2352415"/>
            <a:ext cx="3107531" cy="100012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5423" y="2352415"/>
            <a:ext cx="214313" cy="1000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52355" y="2352415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6.90%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36144" y="2515828"/>
            <a:ext cx="764381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Hate Speech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373749" y="2515828"/>
            <a:ext cx="3107531" cy="100012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5004" y="2515828"/>
            <a:ext cx="114300" cy="1000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52355" y="2515828"/>
            <a:ext cx="471488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3.65%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35557" y="1716900"/>
            <a:ext cx="1600200" cy="2936081"/>
          </a:xfrm>
          <a:prstGeom prst="roundRect">
            <a:avLst>
              <a:gd name="adj" fmla="val 8036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8432" y="1861282"/>
            <a:ext cx="1314450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12,490</a:t>
            </a:r>
            <a:endParaRPr lang="en-US" sz="2480" dirty="0"/>
          </a:p>
        </p:txBody>
      </p:sp>
      <p:sp>
        <p:nvSpPr>
          <p:cNvPr id="29" name="Text 27"/>
          <p:cNvSpPr/>
          <p:nvPr/>
        </p:nvSpPr>
        <p:spPr>
          <a:xfrm>
            <a:off x="5578432" y="2210321"/>
            <a:ext cx="131445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ROWS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7151229" y="1716900"/>
            <a:ext cx="1600200" cy="2936081"/>
          </a:xfrm>
          <a:prstGeom prst="roundRect">
            <a:avLst>
              <a:gd name="adj" fmla="val 8036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4104" y="1861282"/>
            <a:ext cx="1314450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59.54%</a:t>
            </a:r>
            <a:endParaRPr lang="en-US" sz="2480" dirty="0"/>
          </a:p>
        </p:txBody>
      </p:sp>
      <p:sp>
        <p:nvSpPr>
          <p:cNvPr id="32" name="Text 30"/>
          <p:cNvSpPr/>
          <p:nvPr/>
        </p:nvSpPr>
        <p:spPr>
          <a:xfrm>
            <a:off x="7294104" y="2210321"/>
            <a:ext cx="131445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POSITIVE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trolldata.csv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benchmark</a:t>
            </a:r>
            <a:endParaRPr lang="en-US" sz="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FFDF8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2125" y="336593"/>
            <a:ext cx="1221581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CONTROL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80/10/10 splits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model sees the same train, validation, and test rows.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404" y="1379860"/>
            <a:ext cx="4036219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2404" y="1379860"/>
          <a:ext cx="4036219" cy="914400"/>
        </p:xfrm>
        <a:graphic>
          <a:graphicData uri="http://schemas.openxmlformats.org/drawingml/2006/table">
            <a:tbl>
              <a:tblPr/>
              <a:tblGrid>
                <a:gridCol w="1204336"/>
                <a:gridCol w="809755"/>
                <a:gridCol w="973280"/>
                <a:gridCol w="10513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Split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Rows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Abusive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9,992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4,042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5,950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1,249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743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1,249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744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15349" y="1379860"/>
            <a:ext cx="4036219" cy="3271838"/>
          </a:xfrm>
          <a:prstGeom prst="roundRect">
            <a:avLst>
              <a:gd name="adj" fmla="val 3930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Reproducibility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manifests saved in iteration2/data/processed</a:t>
            </a:r>
            <a:endParaRPr lang="en-US" sz="520" dirty="0"/>
          </a:p>
        </p:txBody>
      </p:sp>
      <p:sp>
        <p:nvSpPr>
          <p:cNvPr id="10" name="Text 7"/>
          <p:cNvSpPr/>
          <p:nvPr/>
        </p:nvSpPr>
        <p:spPr>
          <a:xfrm>
            <a:off x="4858224" y="1524074"/>
            <a:ext cx="375046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split with seed 42.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used for model selection and checkpoint selection.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results used for final claims.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EFB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2432" y="336593"/>
            <a:ext cx="950119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LADDER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levels of representation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experiments test whether richer text representations produce meaningful gains.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1380446"/>
            <a:ext cx="2664619" cy="2636044"/>
          </a:xfrm>
          <a:prstGeom prst="roundRect">
            <a:avLst>
              <a:gd name="adj" fmla="val 4878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1: TF-IDF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34023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and Linear SVC over unigram and bigram features.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39663" y="1380446"/>
            <a:ext cx="2664619" cy="2636044"/>
          </a:xfrm>
          <a:prstGeom prst="roundRect">
            <a:avLst>
              <a:gd name="adj" fmla="val 4878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2538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2: FFNN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382538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Train-only embeddings, mean pooling, hidden layers, ReLU, and dropout.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088177" y="1380446"/>
            <a:ext cx="2664619" cy="2636044"/>
          </a:xfrm>
          <a:prstGeom prst="roundRect">
            <a:avLst>
              <a:gd name="adj" fmla="val 4878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052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3: BERT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231052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Fine-tuned bert-base-uncased with contextual token representations.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92906" y="4110810"/>
            <a:ext cx="8358188" cy="542925"/>
          </a:xfrm>
          <a:prstGeom prst="roundRect">
            <a:avLst>
              <a:gd name="adj" fmla="val 23684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781" y="4257256"/>
            <a:ext cx="8072438" cy="2500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TF-IDF max features: 20,000</a:t>
            </a:r>
            <a:pPr algn="l"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FFNN vocab: 10,975</a:t>
            </a:r>
            <a:pPr algn="l"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Binary BERT max length: 80</a:t>
            </a:r>
            <a:pPr algn="l"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Multiclass BERT max length: 128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Baselines first, transformer last</a:t>
            </a:r>
            <a:endParaRPr lang="en-US" sz="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D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562" y="336593"/>
            <a:ext cx="900113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ML pipeline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workspace saves the objects needed to inspect and reproduce each run.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91957" y="1378632"/>
            <a:ext cx="2028825" cy="26289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columns, map labels, freeze splits.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2502350" y="1378632"/>
            <a:ext cx="2028825" cy="26289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Tier 1 baselines, FFNN, and BERT.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612770" y="1378632"/>
            <a:ext cx="2028825" cy="26289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metrics, reports, and confusion structure.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6723190" y="1378632"/>
            <a:ext cx="2028825" cy="26289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7144">
            <a:solidFill>
              <a:srgbClr val="DFE5EE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Aft>
                <a:spcPts val="315"/>
              </a:spcAft>
              <a:buNone/>
            </a:pPr>
            <a:r>
              <a:rPr lang="en-US" sz="680" b="1" spc="3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</a:t>
            </a:r>
            <a:pPr algn="l" indent="0" marL="0">
              <a:lnSpc>
                <a:spcPts val="956"/>
              </a:lnSpc>
              <a:buNone/>
            </a:pPr>
            <a:r>
              <a:rPr lang="en-US" sz="7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summaries, tokenizers, checkpoints, histories.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92404" y="4101852"/>
            <a:ext cx="4036219" cy="550069"/>
          </a:xfrm>
          <a:prstGeom prst="roundRect">
            <a:avLst>
              <a:gd name="adj" fmla="val 23377"/>
            </a:avLst>
          </a:prstGeom>
          <a:solidFill>
            <a:srgbClr val="F4F0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279" y="4246848"/>
            <a:ext cx="37504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imbalance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35279" y="4392234"/>
            <a:ext cx="3750469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Multiclass loss uses inverse-frequency weights, with Hate Speech weighted 5.4751.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4715349" y="4101852"/>
            <a:ext cx="4036219" cy="550069"/>
          </a:xfrm>
          <a:prstGeom prst="roundRect">
            <a:avLst>
              <a:gd name="adj" fmla="val 23377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8224" y="4246848"/>
            <a:ext cx="37504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Checkpointing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4858224" y="4392234"/>
            <a:ext cx="3750469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BERT selected by validation F1; multiclass BERT selected by validation macro F1.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iteration2/</a:t>
            </a:r>
            <a:endParaRPr lang="en-US" sz="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FFD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9725" y="336593"/>
            <a:ext cx="757237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1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detection results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vs. ragebait / abusive language on the held-out test set.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379860"/>
            <a:ext cx="4772025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2906" y="1379860"/>
          <a:ext cx="4772025" cy="914400"/>
        </p:xfrm>
        <a:graphic>
          <a:graphicData uri="http://schemas.openxmlformats.org/drawingml/2006/table">
            <a:tbl>
              <a:tblPr/>
              <a:tblGrid>
                <a:gridCol w="1580610"/>
                <a:gridCol w="882309"/>
                <a:gridCol w="880746"/>
                <a:gridCol w="712812"/>
                <a:gridCol w="71900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Accuracy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Recall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0.8551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0.8371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0.9395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0.8854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 SVC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0.8655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0.8780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0.8992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0.8884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FFNN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0.8671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0.8734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0.9086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0.8906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0.9079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0.9210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0.9247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0.9229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32571" y="1380446"/>
            <a:ext cx="3321844" cy="850106"/>
          </a:xfrm>
          <a:prstGeom prst="roundRect">
            <a:avLst>
              <a:gd name="adj" fmla="val 15126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9018" y="1522958"/>
            <a:ext cx="3028950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+0.0322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5579018" y="1871997"/>
            <a:ext cx="302895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OVER BEST NON-TRANSFORMER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579018" y="1971675"/>
            <a:ext cx="3028950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beats FFNN on final binary test performance.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results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FFDF8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567" y="336593"/>
            <a:ext cx="1078706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DIAGNOSTICS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recall without sacrificing precision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catches most abusive posts while limiting false alarms.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404" y="1379860"/>
            <a:ext cx="4036219" cy="3271838"/>
          </a:xfrm>
          <a:prstGeom prst="roundRect">
            <a:avLst>
              <a:gd name="adj" fmla="val 3930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279" y="1522512"/>
            <a:ext cx="3750469" cy="535781"/>
          </a:xfrm>
          <a:prstGeom prst="roundRect">
            <a:avLst>
              <a:gd name="adj" fmla="val 1866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279" y="1522512"/>
          <a:ext cx="3750469" cy="914400"/>
        </p:xfrm>
        <a:graphic>
          <a:graphicData uri="http://schemas.openxmlformats.org/drawingml/2006/table">
            <a:tbl>
              <a:tblPr/>
              <a:tblGrid>
                <a:gridCol w="1691785"/>
                <a:gridCol w="1002804"/>
                <a:gridCol w="105554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 confusion matrix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 Normal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 Abusive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True Normal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True Abusive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688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14317" y="1379860"/>
            <a:ext cx="1950244" cy="3271838"/>
          </a:xfrm>
          <a:prstGeom prst="roundRect">
            <a:avLst>
              <a:gd name="adj" fmla="val 6593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7192" y="1522958"/>
            <a:ext cx="1664494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0.9210</a:t>
            </a:r>
            <a:endParaRPr lang="en-US" sz="2480" dirty="0"/>
          </a:p>
        </p:txBody>
      </p:sp>
      <p:sp>
        <p:nvSpPr>
          <p:cNvPr id="11" name="Text 8"/>
          <p:cNvSpPr/>
          <p:nvPr/>
        </p:nvSpPr>
        <p:spPr>
          <a:xfrm>
            <a:off x="4857192" y="1871997"/>
            <a:ext cx="1664494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857192" y="1969554"/>
            <a:ext cx="1664494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predictions are usually correct.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6802329" y="1379860"/>
            <a:ext cx="1950244" cy="3271838"/>
          </a:xfrm>
          <a:prstGeom prst="roundRect">
            <a:avLst>
              <a:gd name="adj" fmla="val 6593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5204" y="1522958"/>
            <a:ext cx="1664494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0.9247</a:t>
            </a:r>
            <a:endParaRPr lang="en-US" sz="2480" dirty="0"/>
          </a:p>
        </p:txBody>
      </p:sp>
      <p:sp>
        <p:nvSpPr>
          <p:cNvPr id="15" name="Text 12"/>
          <p:cNvSpPr/>
          <p:nvPr/>
        </p:nvSpPr>
        <p:spPr>
          <a:xfrm>
            <a:off x="6945204" y="1871997"/>
            <a:ext cx="1664494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945204" y="1971675"/>
            <a:ext cx="1664494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abusive examples are found.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BERT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 counts derived from final test metrics</a:t>
            </a:r>
            <a:endParaRPr lang="en-US" sz="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EFB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674" y="336593"/>
            <a:ext cx="764381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 2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Five-class classification results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harder task asks the model to separate overlapping kinds of abusive language.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379860"/>
            <a:ext cx="4772025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2906" y="1379860"/>
          <a:ext cx="4772025" cy="914400"/>
        </p:xfrm>
        <a:graphic>
          <a:graphicData uri="http://schemas.openxmlformats.org/drawingml/2006/table">
            <a:tbl>
              <a:tblPr/>
              <a:tblGrid>
                <a:gridCol w="1835330"/>
                <a:gridCol w="1024458"/>
                <a:gridCol w="933097"/>
                <a:gridCol w="982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Accuracy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Macro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0.6645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0.6645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0.5524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 SVC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0.6797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0.6797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0.5403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FFNN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0.6373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0.6373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0.5101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0.7390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0.7390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0.6405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32571" y="1379860"/>
            <a:ext cx="3321844" cy="3271838"/>
          </a:xfrm>
          <a:prstGeom prst="roundRect">
            <a:avLst>
              <a:gd name="adj" fmla="val 3930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9018" y="1522958"/>
            <a:ext cx="3028950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+0.0881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5579018" y="1871997"/>
            <a:ext cx="3028950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F1 OVER BEST BASELINE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579018" y="1971675"/>
            <a:ext cx="3028950" cy="114300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BERT's strongest evidence comes from the multiclass task.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results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Multiclass classification</a:t>
            </a:r>
            <a:endParaRPr lang="en-US" sz="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D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060" y="336593"/>
            <a:ext cx="1278731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CLASS-WISE COMPARISON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improves every class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gains appear where surface vocabulary is least reliable.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379860"/>
            <a:ext cx="4772025" cy="3271838"/>
          </a:xfrm>
          <a:prstGeom prst="roundRect">
            <a:avLst>
              <a:gd name="adj" fmla="val 3930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446" y="1525358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69898" y="1524688"/>
            <a:ext cx="3000375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368056" y="1604609"/>
            <a:ext cx="3207544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35446" y="1738945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Profanity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0874" y="1738275"/>
            <a:ext cx="222885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68921" y="1818196"/>
            <a:ext cx="26860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35446" y="1952532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Trolling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0177" y="1951862"/>
            <a:ext cx="2264569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209" y="2031783"/>
            <a:ext cx="2500313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35446" y="2166119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68865" y="2165449"/>
            <a:ext cx="1243013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0344" y="2245370"/>
            <a:ext cx="160020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46" y="2379706"/>
            <a:ext cx="742950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Hate Speech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69702" y="2379036"/>
            <a:ext cx="1350169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1368447" y="2458957"/>
            <a:ext cx="1707356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35781" y="2632221"/>
            <a:ext cx="4486275" cy="2500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Orange: Logistic Regression</a:t>
            </a:r>
            <a:pPr algn="l" indent="0" marL="0">
              <a:buNone/>
            </a:pPr>
            <a:r>
              <a:rPr lang="en-US" sz="680" b="1" dirty="0">
                <a:solidFill>
                  <a:srgbClr val="17203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Blue: BERT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432571" y="1379860"/>
            <a:ext cx="3321844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2571" y="1379860"/>
          <a:ext cx="3321844" cy="914400"/>
        </p:xfrm>
        <a:graphic>
          <a:graphicData uri="http://schemas.openxmlformats.org/drawingml/2006/table">
            <a:tbl>
              <a:tblPr/>
              <a:tblGrid>
                <a:gridCol w="1291400"/>
                <a:gridCol w="1108565"/>
                <a:gridCol w="91858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LogReg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 F1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0.8215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0.8772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Profanity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0.6108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0.7349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Trolling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0.6202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0.6853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Derogatory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0.3398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0.4384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Hate Speech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0.3696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0.4667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test F1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baseline vs. BERT</a:t>
            </a:r>
            <a:endParaRPr lang="en-US" sz="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FFD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2264" y="336593"/>
            <a:ext cx="871538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ANALYSIS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failures are boundary failures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model's biggest weakness is not random confusion across all labels.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9530" y="1379860"/>
            <a:ext cx="3321844" cy="3271838"/>
          </a:xfrm>
          <a:prstGeom prst="roundRect">
            <a:avLst>
              <a:gd name="adj" fmla="val 3930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698" y="1653611"/>
            <a:ext cx="1985963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Derogatory &lt;-&gt; Trolling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9340" y="1523572"/>
            <a:ext cx="985838" cy="257175"/>
          </a:xfrm>
          <a:prstGeom prst="roundRect">
            <a:avLst>
              <a:gd name="adj" fmla="val 33333"/>
            </a:avLst>
          </a:prstGeom>
          <a:solidFill>
            <a:srgbClr val="E05252">
              <a:alpha val="8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79089" y="1803964"/>
            <a:ext cx="114300" cy="1071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35698" y="2049419"/>
            <a:ext cx="1985963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&lt;-&gt; Trolling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7805" y="1919381"/>
            <a:ext cx="900113" cy="257175"/>
          </a:xfrm>
          <a:prstGeom prst="roundRect">
            <a:avLst>
              <a:gd name="adj" fmla="val 33333"/>
            </a:avLst>
          </a:prstGeom>
          <a:solidFill>
            <a:srgbClr val="E05252">
              <a:alpha val="8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79340" y="2199773"/>
            <a:ext cx="114300" cy="1071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35698" y="2445227"/>
            <a:ext cx="1985963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Profanity &lt;-&gt; Trolling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79173" y="2315189"/>
            <a:ext cx="700088" cy="257175"/>
          </a:xfrm>
          <a:prstGeom prst="roundRect">
            <a:avLst>
              <a:gd name="adj" fmla="val 33333"/>
            </a:avLst>
          </a:prstGeom>
          <a:solidFill>
            <a:srgbClr val="E05252">
              <a:alpha val="8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79870" y="2595581"/>
            <a:ext cx="114300" cy="1071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535698" y="2841036"/>
            <a:ext cx="1985963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&lt;-&gt; Profanity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0205" y="2710997"/>
            <a:ext cx="342900" cy="257175"/>
          </a:xfrm>
          <a:prstGeom prst="roundRect">
            <a:avLst>
              <a:gd name="adj" fmla="val 33333"/>
            </a:avLst>
          </a:prstGeom>
          <a:solidFill>
            <a:srgbClr val="E05252">
              <a:alpha val="8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78726" y="2991390"/>
            <a:ext cx="114300" cy="1071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535698" y="3236844"/>
            <a:ext cx="1985963" cy="13573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Derogatory &lt;-&gt; Hate Speech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78336" y="3106806"/>
            <a:ext cx="307181" cy="257175"/>
          </a:xfrm>
          <a:prstGeom prst="roundRect">
            <a:avLst>
              <a:gd name="adj" fmla="val 33333"/>
            </a:avLst>
          </a:prstGeom>
          <a:solidFill>
            <a:srgbClr val="E05252">
              <a:alpha val="8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78224" y="3387198"/>
            <a:ext cx="114300" cy="1071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3979041" y="1379860"/>
            <a:ext cx="4772025" cy="3271838"/>
          </a:xfrm>
          <a:prstGeom prst="roundRect">
            <a:avLst>
              <a:gd name="adj" fmla="val 3930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pairs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Multiclass BERT held-out test</a:t>
            </a:r>
            <a:endParaRPr lang="en-US" sz="520" dirty="0"/>
          </a:p>
        </p:txBody>
      </p:sp>
      <p:sp>
        <p:nvSpPr>
          <p:cNvPr id="24" name="Text 22"/>
          <p:cNvSpPr/>
          <p:nvPr/>
        </p:nvSpPr>
        <p:spPr>
          <a:xfrm>
            <a:off x="4121916" y="1523349"/>
            <a:ext cx="448627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Trolling overlaps with mild profanity, direct insult, and provocative but non-abusive discourse.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Profanity can mask more severe hostile intent, including wishes of harm.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noisy posts often combine complaint, sarcasm, insult, and provocation.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FFDF8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2209" y="336593"/>
            <a:ext cx="1150144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ANALYSIS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examples explain the numbers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High-confidence errors show where the label space itself is difficult.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Profanity hides harm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34023" y="1669349"/>
            <a:ext cx="2378869" cy="3500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hostile phrase with explicit profanity was predicted as Profanity, while the gold label was Hate Speech.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39663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2538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Trolling vs. derogation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382538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Insult-heavy posts can be labeled as trolling by humans but look derogatory to the model.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088177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052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Noisy mixed intent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231052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rants combine sarcasm, complaint, abuse, and provocation in one example.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92404" y="3916756"/>
            <a:ext cx="4036219" cy="735806"/>
          </a:xfrm>
          <a:prstGeom prst="roundRect">
            <a:avLst>
              <a:gd name="adj" fmla="val 17476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279" y="4060720"/>
            <a:ext cx="37504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7.83%</a:t>
            </a:r>
            <a:endParaRPr lang="en-US" sz="2480" dirty="0"/>
          </a:p>
        </p:txBody>
      </p:sp>
      <p:sp>
        <p:nvSpPr>
          <p:cNvPr id="17" name="Text 15"/>
          <p:cNvSpPr/>
          <p:nvPr/>
        </p:nvSpPr>
        <p:spPr>
          <a:xfrm>
            <a:off x="535279" y="4409759"/>
            <a:ext cx="37504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TEST OOV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15349" y="3916756"/>
            <a:ext cx="4036219" cy="735806"/>
          </a:xfrm>
          <a:prstGeom prst="roundRect">
            <a:avLst>
              <a:gd name="adj" fmla="val 17476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8224" y="4060720"/>
            <a:ext cx="37504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7.61%</a:t>
            </a:r>
            <a:endParaRPr lang="en-US" sz="2480" dirty="0"/>
          </a:p>
        </p:txBody>
      </p:sp>
      <p:sp>
        <p:nvSpPr>
          <p:cNvPr id="20" name="Text 18"/>
          <p:cNvSpPr/>
          <p:nvPr/>
        </p:nvSpPr>
        <p:spPr>
          <a:xfrm>
            <a:off x="4858224" y="4409759"/>
            <a:ext cx="37504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HARD-ERROR OOV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mainly an unknown-word problem</a:t>
            </a:r>
            <a:endParaRPr lang="en-US" sz="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EFB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255" y="336593"/>
            <a:ext cx="1028700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TRADEOFF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accuracy costs more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is strongest, but TF-IDF models remain practical baselines.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404" y="1379860"/>
            <a:ext cx="4036219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2404" y="1379860"/>
          <a:ext cx="4036219" cy="914400"/>
        </p:xfrm>
        <a:graphic>
          <a:graphicData uri="http://schemas.openxmlformats.org/drawingml/2006/table">
            <a:tbl>
              <a:tblPr/>
              <a:tblGrid>
                <a:gridCol w="1645072"/>
                <a:gridCol w="1099970"/>
                <a:gridCol w="12936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Binary train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Binary predict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0.047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0.00039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 SVC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0.032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0.00045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FFNN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25.388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0.01973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4893.595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64.869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15349" y="1379860"/>
            <a:ext cx="4036219" cy="3271838"/>
          </a:xfrm>
          <a:prstGeom prst="roundRect">
            <a:avLst>
              <a:gd name="adj" fmla="val 3057"/>
            </a:avLst>
          </a:prstGeom>
          <a:solidFill>
            <a:srgbClr val="FFFFFF">
              <a:alpha val="82000"/>
            </a:srgbClr>
          </a:solidFill>
          <a:ln/>
        </p:spPr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15349" y="1379860"/>
          <a:ext cx="4036219" cy="914400"/>
        </p:xfrm>
        <a:graphic>
          <a:graphicData uri="http://schemas.openxmlformats.org/drawingml/2006/table">
            <a:tbl>
              <a:tblPr/>
              <a:tblGrid>
                <a:gridCol w="1437791"/>
                <a:gridCol w="1215833"/>
                <a:gridCol w="138510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Multiclass train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highlight>
                            <a:srgbClr val="172033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Multiclass predict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16.314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0.00097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 SVC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0.471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0.00146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FFNN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87.860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0.1501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144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BERT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376.786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90" b="1" dirty="0">
                          <a:solidFill>
                            <a:srgbClr val="172033"/>
                          </a:solidFill>
                          <a:highlight>
                            <a:srgbClr val="2563EB"/>
                          </a:highlight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9.860 s</a:t>
                      </a:r>
                      <a:endParaRPr lang="en-US" sz="59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6933" marR="56933" marT="50898" marB="5089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summaries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binary run, CUDA multiclass run</a:t>
            </a:r>
            <a:endParaRPr lang="en-US" sz="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DFF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009" y="336593"/>
            <a:ext cx="828675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FINDINGS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5023"/>
            <a:ext cx="3393281" cy="3357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learned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790612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system is stronger because its evaluation target is human judgment.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1042653"/>
            <a:ext cx="2664619" cy="3136106"/>
          </a:xfrm>
          <a:prstGeom prst="roundRect">
            <a:avLst>
              <a:gd name="adj" fmla="val 4826"/>
            </a:avLst>
          </a:prstGeom>
          <a:solidFill>
            <a:srgbClr val="FFF7E8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1186309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Baselines matter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34023" y="1329575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models are strong, especially for binary detection.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39663" y="1042653"/>
            <a:ext cx="2664619" cy="3136106"/>
          </a:xfrm>
          <a:prstGeom prst="roundRect">
            <a:avLst>
              <a:gd name="adj" fmla="val 4826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2538" y="1186309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FFNN is limited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382538" y="1329575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Mean-pooled embeddings add little and can underperform linear models on macro F1.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088177" y="1042653"/>
            <a:ext cx="2664619" cy="3136106"/>
          </a:xfrm>
          <a:prstGeom prst="roundRect">
            <a:avLst>
              <a:gd name="adj" fmla="val 4826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052" y="1186309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is best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231052" y="1329575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modeling improves aggregate scores and every class-wise F1.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92906" y="4274362"/>
            <a:ext cx="8358188" cy="378619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remaining challenge is semantic overlap at the Trolling, Derogatory, and Hate Speech boundaries.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implications</a:t>
            </a:r>
            <a:endParaRPr lang="en-US" sz="52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906" y="4274362"/>
            <a:ext cx="8358188" cy="3786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BFFFD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981" y="336593"/>
            <a:ext cx="664369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2735"/>
            <a:ext cx="3393281" cy="6786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Improving the detector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1128936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version should target generalization and richer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1148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EEF4FF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023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splits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34023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by author or source to test whether the model generalizes beyond repeated patterns.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239663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EEFAF5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2538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context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382538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reply chains or neighboring posts to resolve sarcasm, threat, and provocation.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088177" y="1379274"/>
            <a:ext cx="2664619" cy="2443163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052" y="1524633"/>
            <a:ext cx="2378869" cy="142875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10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Sharper labels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231052" y="1667898"/>
            <a:ext cx="2378869" cy="235744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923"/>
              </a:lnSpc>
              <a:buNone/>
            </a:pPr>
            <a:r>
              <a:rPr lang="en-US" sz="68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annotation guidance for Trolling vs. Derogatory vs. Hate Speech.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92404" y="3916756"/>
            <a:ext cx="4036219" cy="735806"/>
          </a:xfrm>
          <a:prstGeom prst="roundRect">
            <a:avLst>
              <a:gd name="adj" fmla="val 17476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279" y="4060720"/>
            <a:ext cx="37504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0.9229</a:t>
            </a:r>
            <a:endParaRPr lang="en-US" sz="2480" dirty="0"/>
          </a:p>
        </p:txBody>
      </p:sp>
      <p:sp>
        <p:nvSpPr>
          <p:cNvPr id="17" name="Text 15"/>
          <p:cNvSpPr/>
          <p:nvPr/>
        </p:nvSpPr>
        <p:spPr>
          <a:xfrm>
            <a:off x="535279" y="4409759"/>
            <a:ext cx="37504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BINARY BERT F1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15349" y="3916756"/>
            <a:ext cx="4036219" cy="735806"/>
          </a:xfrm>
          <a:prstGeom prst="roundRect">
            <a:avLst>
              <a:gd name="adj" fmla="val 17476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8224" y="4060720"/>
            <a:ext cx="3750469" cy="300038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353"/>
              </a:lnSpc>
              <a:buNone/>
            </a:pPr>
            <a:r>
              <a:rPr lang="en-US" sz="24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0.6405</a:t>
            </a:r>
            <a:endParaRPr lang="en-US" sz="2480" dirty="0"/>
          </a:p>
        </p:txBody>
      </p:sp>
      <p:sp>
        <p:nvSpPr>
          <p:cNvPr id="20" name="Text 18"/>
          <p:cNvSpPr/>
          <p:nvPr/>
        </p:nvSpPr>
        <p:spPr>
          <a:xfrm>
            <a:off x="4858224" y="4409759"/>
            <a:ext cx="3750469" cy="1000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650" b="1" spc="39" kern="0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MULTICLASS BERT MACRO F1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Healthier social-media ecosystem</a:t>
            </a:r>
            <a:endParaRPr lang="en-US" sz="5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3056"/>
            </a:avLst>
          </a:prstGeom>
          <a:solidFill>
            <a:srgbClr val="FFFDF8"/>
          </a:solidFill>
          <a:ln w="7144">
            <a:solidFill>
              <a:srgbClr val="DFE5EE">
                <a:alpha val="9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1902" y="336593"/>
            <a:ext cx="685800" cy="92869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392571" y="455023"/>
            <a:ext cx="3393281" cy="335756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2664"/>
              </a:lnSpc>
              <a:buNone/>
            </a:pPr>
            <a:r>
              <a:rPr lang="en-US" sz="27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and artifacts</a:t>
            </a:r>
            <a:endParaRPr lang="en-US" sz="2720" dirty="0"/>
          </a:p>
        </p:txBody>
      </p:sp>
      <p:sp>
        <p:nvSpPr>
          <p:cNvPr id="5" name="Text 3"/>
          <p:cNvSpPr/>
          <p:nvPr/>
        </p:nvSpPr>
        <p:spPr>
          <a:xfrm>
            <a:off x="391176" y="790612"/>
            <a:ext cx="5486400" cy="157163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5E68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references and project outputs used in this presentation.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2906" y="1039248"/>
            <a:ext cx="8358188" cy="3614738"/>
          </a:xfrm>
          <a:prstGeom prst="roundRect">
            <a:avLst>
              <a:gd name="adj" fmla="val 3557"/>
            </a:avLst>
          </a:prstGeom>
          <a:solidFill>
            <a:srgbClr val="FFFFFF">
              <a:alpha val="78000"/>
            </a:srgbClr>
          </a:solidFill>
          <a:ln w="7144">
            <a:solidFill>
              <a:srgbClr val="DFE5E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2906" y="4746910"/>
            <a:ext cx="8358188" cy="7858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</a:t>
            </a:r>
            <a:pPr algn="l" indent="0" marL="0">
              <a:buNone/>
            </a:pPr>
            <a:r>
              <a:rPr lang="en-US" sz="520" b="1" spc="10" kern="0" dirty="0">
                <a:solidFill>
                  <a:srgbClr val="8A9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20" dirty="0"/>
          </a:p>
        </p:txBody>
      </p:sp>
      <p:sp>
        <p:nvSpPr>
          <p:cNvPr id="8" name="Text 6"/>
          <p:cNvSpPr/>
          <p:nvPr/>
        </p:nvSpPr>
        <p:spPr>
          <a:xfrm>
            <a:off x="535781" y="1184579"/>
            <a:ext cx="807243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Trawling for Trolling: A Dataset. arXiv:2008.00525.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Devlin, Chang, Lee, and Toutanova. BERT: Pre-training of Deep Bidirectional Transformers for Language Understanding. NAACL-HLT, 2019.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Pedregosa et al. Scikit-learn: Machine Learning in Python. Journal of Machine Learning Research, 2011.</a:t>
            </a:r>
            <a:endParaRPr lang="en-US" sz="850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repository: github.com/giuseppegaliazzitx-bit/ML-Project-Ragebait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2026-04-27T00:02:52Z</dcterms:created>
  <dcterms:modified xsi:type="dcterms:W3CDTF">2026-04-27T00:02:52Z</dcterms:modified>
</cp:coreProperties>
</file>